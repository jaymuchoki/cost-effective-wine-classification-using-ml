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76" r:id="rId6"/>
    <p:sldId id="261" r:id="rId7"/>
    <p:sldId id="262" r:id="rId8"/>
    <p:sldId id="263" r:id="rId9"/>
    <p:sldId id="264" r:id="rId10"/>
    <p:sldId id="265" r:id="rId11"/>
    <p:sldId id="266" r:id="rId12"/>
    <p:sldId id="269" r:id="rId13"/>
    <p:sldId id="270" r:id="rId14"/>
    <p:sldId id="271" r:id="rId15"/>
    <p:sldId id="272" r:id="rId16"/>
    <p:sldId id="273" r:id="rId17"/>
    <p:sldId id="274" r:id="rId18"/>
  </p:sldIdLst>
  <p:sldSz cx="18288000" cy="10287000"/>
  <p:notesSz cx="6858000" cy="9144000"/>
  <p:embeddedFontLst>
    <p:embeddedFont>
      <p:font typeface="Inter Extra-Light" panose="020B0604020202020204" charset="0"/>
      <p:regular r:id="rId19"/>
    </p:embeddedFont>
    <p:embeddedFont>
      <p:font typeface="Inter Medium" panose="020B0604020202020204" charset="0"/>
      <p:regular r:id="rId20"/>
    </p:embeddedFont>
    <p:embeddedFont>
      <p:font typeface="Leckerli One" panose="020B0604020202020204" charset="0"/>
      <p:regular r:id="rId21"/>
    </p:embeddedFont>
    <p:embeddedFont>
      <p:font typeface="Poppins" panose="00000500000000000000" pitchFamily="2" charset="0"/>
      <p:regular r:id="rId22"/>
    </p:embeddedFont>
    <p:embeddedFont>
      <p:font typeface="Poppins Bold" panose="020B0604020202020204" charset="0"/>
      <p:regular r:id="rId23"/>
    </p:embeddedFont>
    <p:embeddedFont>
      <p:font typeface="Poppins Light" panose="00000400000000000000" pitchFamily="2" charset="0"/>
      <p:regular r:id="rId24"/>
    </p:embeddedFont>
    <p:embeddedFont>
      <p:font typeface="Poppins Medium" panose="00000600000000000000" pitchFamily="2"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7" d="100"/>
          <a:sy n="37" d="100"/>
        </p:scale>
        <p:origin x="1060"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11" b="-9211"/>
            </a:stretch>
          </a:blipFill>
        </p:spPr>
      </p:sp>
      <p:sp>
        <p:nvSpPr>
          <p:cNvPr id="3" name="AutoShape 3"/>
          <p:cNvSpPr/>
          <p:nvPr/>
        </p:nvSpPr>
        <p:spPr>
          <a:xfrm flipV="1">
            <a:off x="0" y="6569683"/>
            <a:ext cx="18288000" cy="0"/>
          </a:xfrm>
          <a:prstGeom prst="line">
            <a:avLst/>
          </a:prstGeom>
          <a:ln w="9525" cap="rnd">
            <a:solidFill>
              <a:srgbClr val="F4F4F4"/>
            </a:solidFill>
            <a:prstDash val="solid"/>
            <a:headEnd type="none" w="sm" len="sm"/>
            <a:tailEnd type="none" w="sm" len="sm"/>
          </a:ln>
        </p:spPr>
      </p:sp>
      <p:grpSp>
        <p:nvGrpSpPr>
          <p:cNvPr id="4" name="Group 4"/>
          <p:cNvGrpSpPr/>
          <p:nvPr/>
        </p:nvGrpSpPr>
        <p:grpSpPr>
          <a:xfrm>
            <a:off x="12762529" y="8734367"/>
            <a:ext cx="4496771" cy="786993"/>
            <a:chOff x="0" y="0"/>
            <a:chExt cx="1184335" cy="207274"/>
          </a:xfrm>
        </p:grpSpPr>
        <p:sp>
          <p:nvSpPr>
            <p:cNvPr id="5" name="Freeform 5"/>
            <p:cNvSpPr/>
            <p:nvPr/>
          </p:nvSpPr>
          <p:spPr>
            <a:xfrm>
              <a:off x="0" y="0"/>
              <a:ext cx="1184335" cy="207274"/>
            </a:xfrm>
            <a:custGeom>
              <a:avLst/>
              <a:gdLst/>
              <a:ahLst/>
              <a:cxnLst/>
              <a:rect l="l" t="t" r="r" b="b"/>
              <a:pathLst>
                <a:path w="1184335" h="207274">
                  <a:moveTo>
                    <a:pt x="103637" y="0"/>
                  </a:moveTo>
                  <a:lnTo>
                    <a:pt x="1080698" y="0"/>
                  </a:lnTo>
                  <a:cubicBezTo>
                    <a:pt x="1108184" y="0"/>
                    <a:pt x="1134545" y="10919"/>
                    <a:pt x="1153980" y="30355"/>
                  </a:cubicBezTo>
                  <a:cubicBezTo>
                    <a:pt x="1173416" y="49790"/>
                    <a:pt x="1184335" y="76151"/>
                    <a:pt x="1184335" y="103637"/>
                  </a:cubicBezTo>
                  <a:lnTo>
                    <a:pt x="1184335" y="103637"/>
                  </a:lnTo>
                  <a:cubicBezTo>
                    <a:pt x="1184335" y="160874"/>
                    <a:pt x="1137935" y="207274"/>
                    <a:pt x="1080698" y="207274"/>
                  </a:cubicBezTo>
                  <a:lnTo>
                    <a:pt x="103637" y="207274"/>
                  </a:lnTo>
                  <a:cubicBezTo>
                    <a:pt x="46400" y="207274"/>
                    <a:pt x="0" y="160874"/>
                    <a:pt x="0" y="103637"/>
                  </a:cubicBezTo>
                  <a:lnTo>
                    <a:pt x="0" y="103637"/>
                  </a:lnTo>
                  <a:cubicBezTo>
                    <a:pt x="0" y="46400"/>
                    <a:pt x="46400" y="0"/>
                    <a:pt x="103637"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6" name="TextBox 6"/>
            <p:cNvSpPr txBox="1"/>
            <p:nvPr/>
          </p:nvSpPr>
          <p:spPr>
            <a:xfrm>
              <a:off x="0" y="-47625"/>
              <a:ext cx="1184335" cy="254899"/>
            </a:xfrm>
            <a:prstGeom prst="rect">
              <a:avLst/>
            </a:prstGeom>
          </p:spPr>
          <p:txBody>
            <a:bodyPr lIns="50800" tIns="50800" rIns="50800" bIns="50800" rtlCol="0" anchor="ctr"/>
            <a:lstStyle/>
            <a:p>
              <a:pPr algn="ctr">
                <a:lnSpc>
                  <a:spcPts val="2690"/>
                </a:lnSpc>
              </a:pPr>
              <a:r>
                <a:rPr lang="en-US" sz="1921" spc="40">
                  <a:solidFill>
                    <a:srgbClr val="F4F4F4"/>
                  </a:solidFill>
                  <a:latin typeface="Poppins Light"/>
                  <a:ea typeface="Poppins Light"/>
                  <a:cs typeface="Poppins Light"/>
                  <a:sym typeface="Poppins Light"/>
                </a:rPr>
                <a:t>MAINAJACOB324@GMAIL.COM</a:t>
              </a:r>
            </a:p>
          </p:txBody>
        </p:sp>
      </p:grpSp>
      <p:sp>
        <p:nvSpPr>
          <p:cNvPr id="7" name="TextBox 7"/>
          <p:cNvSpPr txBox="1"/>
          <p:nvPr/>
        </p:nvSpPr>
        <p:spPr>
          <a:xfrm>
            <a:off x="-818403" y="1266825"/>
            <a:ext cx="14015752" cy="3617955"/>
          </a:xfrm>
          <a:prstGeom prst="rect">
            <a:avLst/>
          </a:prstGeom>
        </p:spPr>
        <p:txBody>
          <a:bodyPr lIns="0" tIns="0" rIns="0" bIns="0" rtlCol="0" anchor="t">
            <a:spAutoFit/>
          </a:bodyPr>
          <a:lstStyle/>
          <a:p>
            <a:pPr algn="ctr">
              <a:lnSpc>
                <a:spcPts val="9358"/>
              </a:lnSpc>
            </a:pPr>
            <a:r>
              <a:rPr lang="en-US" sz="9851" b="1" spc="-413">
                <a:solidFill>
                  <a:srgbClr val="FFFFF6"/>
                </a:solidFill>
                <a:latin typeface="Inter Medium"/>
                <a:ea typeface="Inter Medium"/>
                <a:cs typeface="Inter Medium"/>
                <a:sym typeface="Inter Medium"/>
              </a:rPr>
              <a:t>Wine Classification</a:t>
            </a:r>
          </a:p>
          <a:p>
            <a:pPr algn="ctr">
              <a:lnSpc>
                <a:spcPts val="9358"/>
              </a:lnSpc>
            </a:pPr>
            <a:r>
              <a:rPr lang="en-US" sz="9851" b="1" spc="-413">
                <a:solidFill>
                  <a:srgbClr val="FFFFF6"/>
                </a:solidFill>
                <a:latin typeface="Inter Medium"/>
                <a:ea typeface="Inter Medium"/>
                <a:cs typeface="Inter Medium"/>
                <a:sym typeface="Inter Medium"/>
              </a:rPr>
              <a:t>using Machine</a:t>
            </a:r>
          </a:p>
          <a:p>
            <a:pPr algn="ctr">
              <a:lnSpc>
                <a:spcPts val="9358"/>
              </a:lnSpc>
            </a:pPr>
            <a:r>
              <a:rPr lang="en-US" sz="9851" b="1" spc="-413">
                <a:solidFill>
                  <a:srgbClr val="FFFFF6"/>
                </a:solidFill>
                <a:latin typeface="Inter Medium"/>
                <a:ea typeface="Inter Medium"/>
                <a:cs typeface="Inter Medium"/>
                <a:sym typeface="Inter Medium"/>
              </a:rPr>
              <a:t>Learning</a:t>
            </a:r>
          </a:p>
        </p:txBody>
      </p:sp>
      <p:sp>
        <p:nvSpPr>
          <p:cNvPr id="8" name="TextBox 8"/>
          <p:cNvSpPr txBox="1"/>
          <p:nvPr/>
        </p:nvSpPr>
        <p:spPr>
          <a:xfrm>
            <a:off x="10292284" y="7908775"/>
            <a:ext cx="6967016" cy="825592"/>
          </a:xfrm>
          <a:prstGeom prst="rect">
            <a:avLst/>
          </a:prstGeom>
        </p:spPr>
        <p:txBody>
          <a:bodyPr lIns="0" tIns="0" rIns="0" bIns="0" rtlCol="0" anchor="t">
            <a:spAutoFit/>
          </a:bodyPr>
          <a:lstStyle/>
          <a:p>
            <a:pPr algn="r">
              <a:lnSpc>
                <a:spcPts val="6469"/>
              </a:lnSpc>
              <a:spcBef>
                <a:spcPct val="0"/>
              </a:spcBef>
            </a:pPr>
            <a:r>
              <a:rPr lang="en-US" sz="4621" b="1" spc="-194">
                <a:solidFill>
                  <a:srgbClr val="F4F4F4"/>
                </a:solidFill>
                <a:latin typeface="Poppins Bold"/>
                <a:ea typeface="Poppins Bold"/>
                <a:cs typeface="Poppins Bold"/>
                <a:sym typeface="Poppins Bold"/>
              </a:rPr>
              <a:t>8th July 2025</a:t>
            </a:r>
          </a:p>
        </p:txBody>
      </p:sp>
      <p:sp>
        <p:nvSpPr>
          <p:cNvPr id="9" name="TextBox 9"/>
          <p:cNvSpPr txBox="1"/>
          <p:nvPr/>
        </p:nvSpPr>
        <p:spPr>
          <a:xfrm>
            <a:off x="442452" y="6474433"/>
            <a:ext cx="6967016" cy="870042"/>
          </a:xfrm>
          <a:prstGeom prst="rect">
            <a:avLst/>
          </a:prstGeom>
        </p:spPr>
        <p:txBody>
          <a:bodyPr lIns="0" tIns="0" rIns="0" bIns="0" rtlCol="0" anchor="t">
            <a:spAutoFit/>
          </a:bodyPr>
          <a:lstStyle/>
          <a:p>
            <a:pPr algn="l">
              <a:lnSpc>
                <a:spcPts val="7169"/>
              </a:lnSpc>
              <a:spcBef>
                <a:spcPct val="0"/>
              </a:spcBef>
            </a:pPr>
            <a:r>
              <a:rPr lang="en-US" sz="5121" spc="-215">
                <a:solidFill>
                  <a:srgbClr val="F4F4F4"/>
                </a:solidFill>
                <a:latin typeface="Leckerli One"/>
                <a:ea typeface="Leckerli One"/>
                <a:cs typeface="Leckerli One"/>
                <a:sym typeface="Leckerli One"/>
              </a:rPr>
              <a:t>Muchoki Jacob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638761" y="759315"/>
            <a:ext cx="8115300" cy="1185751"/>
          </a:xfrm>
          <a:prstGeom prst="rect">
            <a:avLst/>
          </a:prstGeom>
        </p:spPr>
        <p:txBody>
          <a:bodyPr lIns="0" tIns="0" rIns="0" bIns="0" rtlCol="0" anchor="t">
            <a:spAutoFit/>
          </a:bodyPr>
          <a:lstStyle/>
          <a:p>
            <a:pPr algn="l">
              <a:lnSpc>
                <a:spcPts val="8119"/>
              </a:lnSpc>
            </a:pPr>
            <a:r>
              <a:rPr lang="en-US" sz="8546" b="1" spc="-358">
                <a:solidFill>
                  <a:srgbClr val="F4F4F4"/>
                </a:solidFill>
                <a:latin typeface="Poppins Medium"/>
                <a:ea typeface="Poppins Medium"/>
                <a:cs typeface="Poppins Medium"/>
                <a:sym typeface="Poppins Medium"/>
              </a:rPr>
              <a:t>INTRODUCTION</a:t>
            </a:r>
          </a:p>
        </p:txBody>
      </p:sp>
      <p:sp>
        <p:nvSpPr>
          <p:cNvPr id="3" name="TextBox 3"/>
          <p:cNvSpPr txBox="1"/>
          <p:nvPr/>
        </p:nvSpPr>
        <p:spPr>
          <a:xfrm>
            <a:off x="638761" y="4803412"/>
            <a:ext cx="6967016" cy="591911"/>
          </a:xfrm>
          <a:prstGeom prst="rect">
            <a:avLst/>
          </a:prstGeom>
        </p:spPr>
        <p:txBody>
          <a:bodyPr lIns="0" tIns="0" rIns="0" bIns="0" rtlCol="0" anchor="t">
            <a:spAutoFit/>
          </a:bodyPr>
          <a:lstStyle/>
          <a:p>
            <a:pPr algn="l">
              <a:lnSpc>
                <a:spcPts val="4649"/>
              </a:lnSpc>
              <a:spcBef>
                <a:spcPct val="0"/>
              </a:spcBef>
            </a:pPr>
            <a:r>
              <a:rPr lang="en-US" sz="3321" b="1" spc="-139">
                <a:solidFill>
                  <a:srgbClr val="F4F4F4"/>
                </a:solidFill>
                <a:latin typeface="Poppins Bold"/>
                <a:ea typeface="Poppins Bold"/>
                <a:cs typeface="Poppins Bold"/>
                <a:sym typeface="Poppins Bold"/>
              </a:rPr>
              <a:t>Relevance of the Study</a:t>
            </a:r>
          </a:p>
        </p:txBody>
      </p:sp>
      <p:sp>
        <p:nvSpPr>
          <p:cNvPr id="4" name="TextBox 4"/>
          <p:cNvSpPr txBox="1"/>
          <p:nvPr/>
        </p:nvSpPr>
        <p:spPr>
          <a:xfrm>
            <a:off x="918087" y="5598957"/>
            <a:ext cx="7556647" cy="1842135"/>
          </a:xfrm>
          <a:prstGeom prst="rect">
            <a:avLst/>
          </a:prstGeom>
        </p:spPr>
        <p:txBody>
          <a:bodyPr lIns="0" tIns="0" rIns="0" bIns="0" rtlCol="0" anchor="t">
            <a:spAutoFit/>
          </a:bodyPr>
          <a:lstStyle/>
          <a:p>
            <a:pPr algn="just">
              <a:lnSpc>
                <a:spcPts val="2939"/>
              </a:lnSpc>
              <a:spcBef>
                <a:spcPct val="0"/>
              </a:spcBef>
            </a:pPr>
            <a:r>
              <a:rPr lang="en-US" sz="2099">
                <a:solidFill>
                  <a:srgbClr val="F4F4F4"/>
                </a:solidFill>
                <a:latin typeface="Inter Extra-Light"/>
                <a:ea typeface="Inter Extra-Light"/>
                <a:cs typeface="Inter Extra-Light"/>
                <a:sym typeface="Inter Extra-Light"/>
              </a:rPr>
              <a:t>The winery aims to streamline its quality assurance processes by using machine learning to classify wines automatically. Understanding which chemical attributes contribute most to classification can also reduce testing costs by eliminating less relevant tests.</a:t>
            </a:r>
          </a:p>
        </p:txBody>
      </p:sp>
      <p:grpSp>
        <p:nvGrpSpPr>
          <p:cNvPr id="5" name="Group 5"/>
          <p:cNvGrpSpPr/>
          <p:nvPr/>
        </p:nvGrpSpPr>
        <p:grpSpPr>
          <a:xfrm>
            <a:off x="9586997" y="1028700"/>
            <a:ext cx="9297103" cy="8229600"/>
            <a:chOff x="0" y="0"/>
            <a:chExt cx="1440365" cy="1274980"/>
          </a:xfrm>
        </p:grpSpPr>
        <p:sp>
          <p:nvSpPr>
            <p:cNvPr id="6" name="Freeform 6"/>
            <p:cNvSpPr/>
            <p:nvPr/>
          </p:nvSpPr>
          <p:spPr>
            <a:xfrm>
              <a:off x="0" y="0"/>
              <a:ext cx="1440365" cy="1274980"/>
            </a:xfrm>
            <a:custGeom>
              <a:avLst/>
              <a:gdLst/>
              <a:ahLst/>
              <a:cxnLst/>
              <a:rect l="l" t="t" r="r" b="b"/>
              <a:pathLst>
                <a:path w="1440365" h="1274980">
                  <a:moveTo>
                    <a:pt x="50796" y="0"/>
                  </a:moveTo>
                  <a:lnTo>
                    <a:pt x="1389568" y="0"/>
                  </a:lnTo>
                  <a:cubicBezTo>
                    <a:pt x="1417622" y="0"/>
                    <a:pt x="1440365" y="22742"/>
                    <a:pt x="1440365" y="50796"/>
                  </a:cubicBezTo>
                  <a:lnTo>
                    <a:pt x="1440365" y="1224184"/>
                  </a:lnTo>
                  <a:cubicBezTo>
                    <a:pt x="1440365" y="1237656"/>
                    <a:pt x="1435013" y="1250576"/>
                    <a:pt x="1425487" y="1260103"/>
                  </a:cubicBezTo>
                  <a:cubicBezTo>
                    <a:pt x="1415961" y="1269629"/>
                    <a:pt x="1403040" y="1274980"/>
                    <a:pt x="1389568" y="1274980"/>
                  </a:cubicBezTo>
                  <a:lnTo>
                    <a:pt x="50796" y="1274980"/>
                  </a:lnTo>
                  <a:cubicBezTo>
                    <a:pt x="22742" y="1274980"/>
                    <a:pt x="0" y="1252238"/>
                    <a:pt x="0" y="1224184"/>
                  </a:cubicBezTo>
                  <a:lnTo>
                    <a:pt x="0" y="50796"/>
                  </a:lnTo>
                  <a:cubicBezTo>
                    <a:pt x="0" y="37324"/>
                    <a:pt x="5352" y="24404"/>
                    <a:pt x="14878" y="14878"/>
                  </a:cubicBezTo>
                  <a:cubicBezTo>
                    <a:pt x="24404" y="5352"/>
                    <a:pt x="37324" y="0"/>
                    <a:pt x="50796" y="0"/>
                  </a:cubicBezTo>
                  <a:close/>
                </a:path>
              </a:pathLst>
            </a:custGeom>
            <a:blipFill>
              <a:blip r:embed="rId2"/>
              <a:stretch>
                <a:fillRect l="-9011" r="-9011"/>
              </a:stretch>
            </a:blipFill>
            <a:ln w="9525" cap="rnd">
              <a:solidFill>
                <a:srgbClr val="FFFFFF"/>
              </a:solidFill>
              <a:prstDash val="solid"/>
              <a:round/>
            </a:ln>
          </p:spPr>
        </p:sp>
      </p:grpSp>
      <p:sp>
        <p:nvSpPr>
          <p:cNvPr id="7" name="TextBox 7"/>
          <p:cNvSpPr txBox="1"/>
          <p:nvPr/>
        </p:nvSpPr>
        <p:spPr>
          <a:xfrm>
            <a:off x="638761" y="2093104"/>
            <a:ext cx="6967016" cy="584926"/>
          </a:xfrm>
          <a:prstGeom prst="rect">
            <a:avLst/>
          </a:prstGeom>
        </p:spPr>
        <p:txBody>
          <a:bodyPr lIns="0" tIns="0" rIns="0" bIns="0" rtlCol="0" anchor="t">
            <a:spAutoFit/>
          </a:bodyPr>
          <a:lstStyle/>
          <a:p>
            <a:pPr algn="l">
              <a:lnSpc>
                <a:spcPts val="4510"/>
              </a:lnSpc>
              <a:spcBef>
                <a:spcPct val="0"/>
              </a:spcBef>
            </a:pPr>
            <a:r>
              <a:rPr lang="en-US" sz="3221" b="1" spc="-135">
                <a:solidFill>
                  <a:srgbClr val="F4F4F4"/>
                </a:solidFill>
                <a:latin typeface="Poppins Bold"/>
                <a:ea typeface="Poppins Bold"/>
                <a:cs typeface="Poppins Bold"/>
                <a:sym typeface="Poppins Bold"/>
              </a:rPr>
              <a:t>Background of the Study</a:t>
            </a:r>
          </a:p>
        </p:txBody>
      </p:sp>
      <p:sp>
        <p:nvSpPr>
          <p:cNvPr id="8" name="TextBox 8"/>
          <p:cNvSpPr txBox="1"/>
          <p:nvPr/>
        </p:nvSpPr>
        <p:spPr>
          <a:xfrm>
            <a:off x="918087" y="2815208"/>
            <a:ext cx="7556647" cy="1842135"/>
          </a:xfrm>
          <a:prstGeom prst="rect">
            <a:avLst/>
          </a:prstGeom>
        </p:spPr>
        <p:txBody>
          <a:bodyPr lIns="0" tIns="0" rIns="0" bIns="0" rtlCol="0" anchor="t">
            <a:spAutoFit/>
          </a:bodyPr>
          <a:lstStyle/>
          <a:p>
            <a:pPr algn="just">
              <a:lnSpc>
                <a:spcPts val="2939"/>
              </a:lnSpc>
              <a:spcBef>
                <a:spcPct val="0"/>
              </a:spcBef>
            </a:pPr>
            <a:r>
              <a:rPr lang="en-US" sz="2099">
                <a:solidFill>
                  <a:srgbClr val="F4F4F4"/>
                </a:solidFill>
                <a:latin typeface="Inter Extra-Light"/>
                <a:ea typeface="Inter Extra-Light"/>
                <a:cs typeface="Inter Extra-Light"/>
                <a:sym typeface="Inter Extra-Light"/>
              </a:rPr>
              <a:t>Wines from the same region can exhibit subtle differences in chemical composition due to variations in cultivation methods and environmental conditions. These differences impact taste, aroma, and quality—making accurate classification essential for quality control.</a:t>
            </a:r>
          </a:p>
        </p:txBody>
      </p:sp>
      <p:sp>
        <p:nvSpPr>
          <p:cNvPr id="9" name="TextBox 9"/>
          <p:cNvSpPr txBox="1"/>
          <p:nvPr/>
        </p:nvSpPr>
        <p:spPr>
          <a:xfrm>
            <a:off x="638761" y="7681817"/>
            <a:ext cx="6967016" cy="591911"/>
          </a:xfrm>
          <a:prstGeom prst="rect">
            <a:avLst/>
          </a:prstGeom>
        </p:spPr>
        <p:txBody>
          <a:bodyPr lIns="0" tIns="0" rIns="0" bIns="0" rtlCol="0" anchor="t">
            <a:spAutoFit/>
          </a:bodyPr>
          <a:lstStyle/>
          <a:p>
            <a:pPr algn="l">
              <a:lnSpc>
                <a:spcPts val="4649"/>
              </a:lnSpc>
              <a:spcBef>
                <a:spcPct val="0"/>
              </a:spcBef>
            </a:pPr>
            <a:r>
              <a:rPr lang="en-US" sz="3321" b="1" spc="-139">
                <a:solidFill>
                  <a:srgbClr val="F4F4F4"/>
                </a:solidFill>
                <a:latin typeface="Poppins Bold"/>
                <a:ea typeface="Poppins Bold"/>
                <a:cs typeface="Poppins Bold"/>
                <a:sym typeface="Poppins Bold"/>
              </a:rPr>
              <a:t>Objective of the Study</a:t>
            </a:r>
          </a:p>
        </p:txBody>
      </p:sp>
      <p:sp>
        <p:nvSpPr>
          <p:cNvPr id="10" name="TextBox 10"/>
          <p:cNvSpPr txBox="1"/>
          <p:nvPr/>
        </p:nvSpPr>
        <p:spPr>
          <a:xfrm>
            <a:off x="918087" y="8444865"/>
            <a:ext cx="7556647" cy="1842135"/>
          </a:xfrm>
          <a:prstGeom prst="rect">
            <a:avLst/>
          </a:prstGeom>
        </p:spPr>
        <p:txBody>
          <a:bodyPr lIns="0" tIns="0" rIns="0" bIns="0" rtlCol="0" anchor="t">
            <a:spAutoFit/>
          </a:bodyPr>
          <a:lstStyle/>
          <a:p>
            <a:pPr algn="just">
              <a:lnSpc>
                <a:spcPts val="2939"/>
              </a:lnSpc>
              <a:spcBef>
                <a:spcPct val="0"/>
              </a:spcBef>
            </a:pPr>
            <a:r>
              <a:rPr lang="en-US" sz="2099">
                <a:solidFill>
                  <a:srgbClr val="F4F4F4"/>
                </a:solidFill>
                <a:latin typeface="Inter Extra-Light"/>
                <a:ea typeface="Inter Extra-Light"/>
                <a:cs typeface="Inter Extra-Light"/>
                <a:sym typeface="Inter Extra-Light"/>
              </a:rPr>
              <a:t>To apply machine learning techniques to classify wine cultivars using chemical test data. The study also aims to identify the most significant features influencing classification and evaluate whether fewer tests can still ensure accurate results.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9144000" y="446444"/>
            <a:ext cx="6967016" cy="2214562"/>
          </a:xfrm>
          <a:prstGeom prst="rect">
            <a:avLst/>
          </a:prstGeom>
        </p:spPr>
        <p:txBody>
          <a:bodyPr lIns="0" tIns="0" rIns="0" bIns="0" rtlCol="0" anchor="t">
            <a:spAutoFit/>
          </a:bodyPr>
          <a:lstStyle/>
          <a:p>
            <a:pPr algn="l">
              <a:lnSpc>
                <a:spcPts val="8122"/>
              </a:lnSpc>
            </a:pPr>
            <a:r>
              <a:rPr lang="en-US" sz="8550" b="1" spc="-359">
                <a:solidFill>
                  <a:srgbClr val="F4F4F4"/>
                </a:solidFill>
                <a:latin typeface="Poppins Medium"/>
                <a:ea typeface="Poppins Medium"/>
                <a:cs typeface="Poppins Medium"/>
                <a:sym typeface="Poppins Medium"/>
              </a:rPr>
              <a:t>Problem Statement</a:t>
            </a:r>
          </a:p>
        </p:txBody>
      </p:sp>
      <p:sp>
        <p:nvSpPr>
          <p:cNvPr id="3" name="TextBox 3"/>
          <p:cNvSpPr txBox="1"/>
          <p:nvPr/>
        </p:nvSpPr>
        <p:spPr>
          <a:xfrm>
            <a:off x="9144000" y="2820124"/>
            <a:ext cx="6967016" cy="509360"/>
          </a:xfrm>
          <a:prstGeom prst="rect">
            <a:avLst/>
          </a:prstGeom>
        </p:spPr>
        <p:txBody>
          <a:bodyPr lIns="0" tIns="0" rIns="0" bIns="0" rtlCol="0" anchor="t">
            <a:spAutoFit/>
          </a:bodyPr>
          <a:lstStyle/>
          <a:p>
            <a:pPr algn="l">
              <a:lnSpc>
                <a:spcPts val="3950"/>
              </a:lnSpc>
              <a:spcBef>
                <a:spcPct val="0"/>
              </a:spcBef>
            </a:pPr>
            <a:r>
              <a:rPr lang="en-US" sz="2821" b="1" spc="-118">
                <a:solidFill>
                  <a:srgbClr val="F4F4F4"/>
                </a:solidFill>
                <a:latin typeface="Poppins Bold"/>
                <a:ea typeface="Poppins Bold"/>
                <a:cs typeface="Poppins Bold"/>
                <a:sym typeface="Poppins Bold"/>
              </a:rPr>
              <a:t>Business Need</a:t>
            </a:r>
          </a:p>
        </p:txBody>
      </p:sp>
      <p:sp>
        <p:nvSpPr>
          <p:cNvPr id="4" name="TextBox 4"/>
          <p:cNvSpPr txBox="1"/>
          <p:nvPr/>
        </p:nvSpPr>
        <p:spPr>
          <a:xfrm>
            <a:off x="9702653" y="3663881"/>
            <a:ext cx="7556647" cy="1727201"/>
          </a:xfrm>
          <a:prstGeom prst="rect">
            <a:avLst/>
          </a:prstGeom>
        </p:spPr>
        <p:txBody>
          <a:bodyPr lIns="0" tIns="0" rIns="0" bIns="0" rtlCol="0" anchor="t">
            <a:spAutoFit/>
          </a:bodyPr>
          <a:lstStyle/>
          <a:p>
            <a:pPr algn="just">
              <a:lnSpc>
                <a:spcPts val="3499"/>
              </a:lnSpc>
            </a:pPr>
            <a:r>
              <a:rPr lang="en-US" sz="2499">
                <a:solidFill>
                  <a:srgbClr val="F4F4F4"/>
                </a:solidFill>
                <a:latin typeface="Inter Extra-Light"/>
                <a:ea typeface="Inter Extra-Light"/>
                <a:cs typeface="Inter Extra-Light"/>
                <a:sym typeface="Inter Extra-Light"/>
              </a:rPr>
              <a:t>The institute wants to automate wine classification into three cultivars using chemical data.</a:t>
            </a:r>
          </a:p>
          <a:p>
            <a:pPr algn="just">
              <a:lnSpc>
                <a:spcPts val="3499"/>
              </a:lnSpc>
            </a:pPr>
            <a:endParaRPr lang="en-US" sz="2499">
              <a:solidFill>
                <a:srgbClr val="F4F4F4"/>
              </a:solidFill>
              <a:latin typeface="Inter Extra-Light"/>
              <a:ea typeface="Inter Extra-Light"/>
              <a:cs typeface="Inter Extra-Light"/>
              <a:sym typeface="Inter Extra-Light"/>
            </a:endParaRPr>
          </a:p>
          <a:p>
            <a:pPr algn="just">
              <a:lnSpc>
                <a:spcPts val="3499"/>
              </a:lnSpc>
              <a:spcBef>
                <a:spcPct val="0"/>
              </a:spcBef>
            </a:pPr>
            <a:r>
              <a:rPr lang="en-US" sz="2499">
                <a:solidFill>
                  <a:srgbClr val="F4F4F4"/>
                </a:solidFill>
                <a:latin typeface="Inter Extra-Light"/>
                <a:ea typeface="Inter Extra-Light"/>
                <a:cs typeface="Inter Extra-Light"/>
                <a:sym typeface="Inter Extra-Light"/>
              </a:rPr>
              <a:t>Manual lab testing is costly and resource-intensive.</a:t>
            </a:r>
          </a:p>
        </p:txBody>
      </p:sp>
      <p:grpSp>
        <p:nvGrpSpPr>
          <p:cNvPr id="5" name="Group 5"/>
          <p:cNvGrpSpPr/>
          <p:nvPr/>
        </p:nvGrpSpPr>
        <p:grpSpPr>
          <a:xfrm>
            <a:off x="-1046349" y="1028700"/>
            <a:ext cx="9573334" cy="8229600"/>
            <a:chOff x="0" y="0"/>
            <a:chExt cx="1483160" cy="1274980"/>
          </a:xfrm>
        </p:grpSpPr>
        <p:sp>
          <p:nvSpPr>
            <p:cNvPr id="6" name="Freeform 6"/>
            <p:cNvSpPr/>
            <p:nvPr/>
          </p:nvSpPr>
          <p:spPr>
            <a:xfrm>
              <a:off x="0" y="0"/>
              <a:ext cx="1483160" cy="1274980"/>
            </a:xfrm>
            <a:custGeom>
              <a:avLst/>
              <a:gdLst/>
              <a:ahLst/>
              <a:cxnLst/>
              <a:rect l="l" t="t" r="r" b="b"/>
              <a:pathLst>
                <a:path w="1483160" h="1274980">
                  <a:moveTo>
                    <a:pt x="49330" y="0"/>
                  </a:moveTo>
                  <a:lnTo>
                    <a:pt x="1433829" y="0"/>
                  </a:lnTo>
                  <a:cubicBezTo>
                    <a:pt x="1446913" y="0"/>
                    <a:pt x="1459460" y="5197"/>
                    <a:pt x="1468711" y="14449"/>
                  </a:cubicBezTo>
                  <a:cubicBezTo>
                    <a:pt x="1477963" y="23700"/>
                    <a:pt x="1483160" y="36247"/>
                    <a:pt x="1483160" y="49330"/>
                  </a:cubicBezTo>
                  <a:lnTo>
                    <a:pt x="1483160" y="1225650"/>
                  </a:lnTo>
                  <a:cubicBezTo>
                    <a:pt x="1483160" y="1238733"/>
                    <a:pt x="1477963" y="1251281"/>
                    <a:pt x="1468711" y="1260532"/>
                  </a:cubicBezTo>
                  <a:cubicBezTo>
                    <a:pt x="1459460" y="1269783"/>
                    <a:pt x="1446913" y="1274980"/>
                    <a:pt x="1433829" y="1274980"/>
                  </a:cubicBezTo>
                  <a:lnTo>
                    <a:pt x="49330" y="1274980"/>
                  </a:lnTo>
                  <a:cubicBezTo>
                    <a:pt x="36247" y="1274980"/>
                    <a:pt x="23700" y="1269783"/>
                    <a:pt x="14449" y="1260532"/>
                  </a:cubicBezTo>
                  <a:cubicBezTo>
                    <a:pt x="5197" y="1251281"/>
                    <a:pt x="0" y="1238733"/>
                    <a:pt x="0" y="1225650"/>
                  </a:cubicBezTo>
                  <a:lnTo>
                    <a:pt x="0" y="49330"/>
                  </a:lnTo>
                  <a:cubicBezTo>
                    <a:pt x="0" y="36247"/>
                    <a:pt x="5197" y="23700"/>
                    <a:pt x="14449" y="14449"/>
                  </a:cubicBezTo>
                  <a:cubicBezTo>
                    <a:pt x="23700" y="5197"/>
                    <a:pt x="36247" y="0"/>
                    <a:pt x="49330" y="0"/>
                  </a:cubicBezTo>
                  <a:close/>
                </a:path>
              </a:pathLst>
            </a:custGeom>
            <a:blipFill>
              <a:blip r:embed="rId2"/>
              <a:stretch>
                <a:fillRect l="-14513" r="-14513"/>
              </a:stretch>
            </a:blipFill>
            <a:ln w="9525" cap="rnd">
              <a:solidFill>
                <a:srgbClr val="FFFFFF"/>
              </a:solidFill>
              <a:prstDash val="solid"/>
              <a:round/>
            </a:ln>
          </p:spPr>
        </p:sp>
      </p:grpSp>
      <p:sp>
        <p:nvSpPr>
          <p:cNvPr id="7" name="TextBox 7"/>
          <p:cNvSpPr txBox="1"/>
          <p:nvPr/>
        </p:nvSpPr>
        <p:spPr>
          <a:xfrm>
            <a:off x="9144000" y="5676832"/>
            <a:ext cx="6967016" cy="509360"/>
          </a:xfrm>
          <a:prstGeom prst="rect">
            <a:avLst/>
          </a:prstGeom>
        </p:spPr>
        <p:txBody>
          <a:bodyPr lIns="0" tIns="0" rIns="0" bIns="0" rtlCol="0" anchor="t">
            <a:spAutoFit/>
          </a:bodyPr>
          <a:lstStyle/>
          <a:p>
            <a:pPr algn="l">
              <a:lnSpc>
                <a:spcPts val="3950"/>
              </a:lnSpc>
              <a:spcBef>
                <a:spcPct val="0"/>
              </a:spcBef>
            </a:pPr>
            <a:r>
              <a:rPr lang="en-US" sz="2821" spc="-118">
                <a:solidFill>
                  <a:srgbClr val="F4F4F4"/>
                </a:solidFill>
                <a:latin typeface="Poppins"/>
                <a:ea typeface="Poppins"/>
                <a:cs typeface="Poppins"/>
                <a:sym typeface="Poppins"/>
              </a:rPr>
              <a:t>What Are We Predicting</a:t>
            </a:r>
          </a:p>
        </p:txBody>
      </p:sp>
      <p:sp>
        <p:nvSpPr>
          <p:cNvPr id="8" name="TextBox 8"/>
          <p:cNvSpPr txBox="1"/>
          <p:nvPr/>
        </p:nvSpPr>
        <p:spPr>
          <a:xfrm>
            <a:off x="9702653" y="6336687"/>
            <a:ext cx="7556647" cy="1289051"/>
          </a:xfrm>
          <a:prstGeom prst="rect">
            <a:avLst/>
          </a:prstGeom>
        </p:spPr>
        <p:txBody>
          <a:bodyPr lIns="0" tIns="0" rIns="0" bIns="0" rtlCol="0" anchor="t">
            <a:spAutoFit/>
          </a:bodyPr>
          <a:lstStyle/>
          <a:p>
            <a:pPr algn="just">
              <a:lnSpc>
                <a:spcPts val="3499"/>
              </a:lnSpc>
              <a:spcBef>
                <a:spcPct val="0"/>
              </a:spcBef>
            </a:pPr>
            <a:r>
              <a:rPr lang="en-US" sz="2499">
                <a:solidFill>
                  <a:srgbClr val="F4F4F4"/>
                </a:solidFill>
                <a:latin typeface="Inter Extra-Light"/>
                <a:ea typeface="Inter Extra-Light"/>
                <a:cs typeface="Inter Extra-Light"/>
                <a:sym typeface="Inter Extra-Light"/>
              </a:rPr>
              <a:t>We aim to predict the wine cultivar (Class 0, 1, or 2) based on 13 chemical features.</a:t>
            </a:r>
          </a:p>
          <a:p>
            <a:pPr algn="just">
              <a:lnSpc>
                <a:spcPts val="3499"/>
              </a:lnSpc>
              <a:spcBef>
                <a:spcPct val="0"/>
              </a:spcBef>
            </a:pPr>
            <a:endParaRPr lang="en-US" sz="2499">
              <a:solidFill>
                <a:srgbClr val="F4F4F4"/>
              </a:solidFill>
              <a:latin typeface="Inter Extra-Light"/>
              <a:ea typeface="Inter Extra-Light"/>
              <a:cs typeface="Inter Extra-Light"/>
              <a:sym typeface="Inter Extra-Light"/>
            </a:endParaRPr>
          </a:p>
        </p:txBody>
      </p:sp>
      <p:sp>
        <p:nvSpPr>
          <p:cNvPr id="9" name="TextBox 9"/>
          <p:cNvSpPr txBox="1"/>
          <p:nvPr/>
        </p:nvSpPr>
        <p:spPr>
          <a:xfrm>
            <a:off x="9144000" y="7787663"/>
            <a:ext cx="6967016" cy="509360"/>
          </a:xfrm>
          <a:prstGeom prst="rect">
            <a:avLst/>
          </a:prstGeom>
        </p:spPr>
        <p:txBody>
          <a:bodyPr lIns="0" tIns="0" rIns="0" bIns="0" rtlCol="0" anchor="t">
            <a:spAutoFit/>
          </a:bodyPr>
          <a:lstStyle/>
          <a:p>
            <a:pPr algn="l">
              <a:lnSpc>
                <a:spcPts val="3950"/>
              </a:lnSpc>
              <a:spcBef>
                <a:spcPct val="0"/>
              </a:spcBef>
            </a:pPr>
            <a:r>
              <a:rPr lang="en-US" sz="2821" spc="-118">
                <a:solidFill>
                  <a:srgbClr val="F4F4F4"/>
                </a:solidFill>
                <a:latin typeface="Poppins"/>
                <a:ea typeface="Poppins"/>
                <a:cs typeface="Poppins"/>
                <a:sym typeface="Poppins"/>
              </a:rPr>
              <a:t> Optimization Goal</a:t>
            </a:r>
          </a:p>
        </p:txBody>
      </p:sp>
      <p:sp>
        <p:nvSpPr>
          <p:cNvPr id="10" name="TextBox 10"/>
          <p:cNvSpPr txBox="1"/>
          <p:nvPr/>
        </p:nvSpPr>
        <p:spPr>
          <a:xfrm>
            <a:off x="9702653" y="8594725"/>
            <a:ext cx="7556647" cy="850901"/>
          </a:xfrm>
          <a:prstGeom prst="rect">
            <a:avLst/>
          </a:prstGeom>
        </p:spPr>
        <p:txBody>
          <a:bodyPr lIns="0" tIns="0" rIns="0" bIns="0" rtlCol="0" anchor="t">
            <a:spAutoFit/>
          </a:bodyPr>
          <a:lstStyle/>
          <a:p>
            <a:pPr algn="just">
              <a:lnSpc>
                <a:spcPts val="3499"/>
              </a:lnSpc>
              <a:spcBef>
                <a:spcPct val="0"/>
              </a:spcBef>
            </a:pPr>
            <a:r>
              <a:rPr lang="en-US" sz="2499">
                <a:solidFill>
                  <a:srgbClr val="F4F4F4"/>
                </a:solidFill>
                <a:latin typeface="Inter Extra-Light"/>
                <a:ea typeface="Inter Extra-Light"/>
                <a:cs typeface="Inter Extra-Light"/>
                <a:sym typeface="Inter Extra-Light"/>
              </a:rPr>
              <a:t>Determine if we can achieve high accuracy using fewer features to help reduce lab testing costs.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432973" y="114300"/>
            <a:ext cx="14322254" cy="1185862"/>
          </a:xfrm>
          <a:prstGeom prst="rect">
            <a:avLst/>
          </a:prstGeom>
        </p:spPr>
        <p:txBody>
          <a:bodyPr lIns="0" tIns="0" rIns="0" bIns="0" rtlCol="0" anchor="t">
            <a:spAutoFit/>
          </a:bodyPr>
          <a:lstStyle/>
          <a:p>
            <a:pPr algn="ctr">
              <a:lnSpc>
                <a:spcPts val="8122"/>
              </a:lnSpc>
            </a:pPr>
            <a:r>
              <a:rPr lang="en-US" sz="8550" b="1" spc="-359">
                <a:solidFill>
                  <a:srgbClr val="F4F4F4"/>
                </a:solidFill>
                <a:latin typeface="Poppins Medium"/>
                <a:ea typeface="Poppins Medium"/>
                <a:cs typeface="Poppins Medium"/>
                <a:sym typeface="Poppins Medium"/>
              </a:rPr>
              <a:t>Data Description</a:t>
            </a:r>
          </a:p>
        </p:txBody>
      </p:sp>
      <p:sp>
        <p:nvSpPr>
          <p:cNvPr id="4" name="TextBox 4"/>
          <p:cNvSpPr txBox="1"/>
          <p:nvPr/>
        </p:nvSpPr>
        <p:spPr>
          <a:xfrm>
            <a:off x="9144000" y="1576541"/>
            <a:ext cx="6967016" cy="759551"/>
          </a:xfrm>
          <a:prstGeom prst="rect">
            <a:avLst/>
          </a:prstGeom>
        </p:spPr>
        <p:txBody>
          <a:bodyPr lIns="0" tIns="0" rIns="0" bIns="0" rtlCol="0" anchor="t">
            <a:spAutoFit/>
          </a:bodyPr>
          <a:lstStyle/>
          <a:p>
            <a:pPr algn="l">
              <a:lnSpc>
                <a:spcPts val="5909"/>
              </a:lnSpc>
              <a:spcBef>
                <a:spcPct val="0"/>
              </a:spcBef>
            </a:pPr>
            <a:r>
              <a:rPr lang="en-US" sz="4221" b="1" spc="-177">
                <a:solidFill>
                  <a:srgbClr val="F4F4F4"/>
                </a:solidFill>
                <a:latin typeface="Poppins Bold"/>
                <a:ea typeface="Poppins Bold"/>
                <a:cs typeface="Poppins Bold"/>
                <a:sym typeface="Poppins Bold"/>
              </a:rPr>
              <a:t>Data Source</a:t>
            </a:r>
          </a:p>
        </p:txBody>
      </p:sp>
      <p:sp>
        <p:nvSpPr>
          <p:cNvPr id="5" name="TextBox 5"/>
          <p:cNvSpPr txBox="1"/>
          <p:nvPr/>
        </p:nvSpPr>
        <p:spPr>
          <a:xfrm>
            <a:off x="10418690" y="2542458"/>
            <a:ext cx="6967016" cy="2299426"/>
          </a:xfrm>
          <a:prstGeom prst="rect">
            <a:avLst/>
          </a:prstGeom>
        </p:spPr>
        <p:txBody>
          <a:bodyPr lIns="0" tIns="0" rIns="0" bIns="0" rtlCol="0" anchor="t">
            <a:spAutoFit/>
          </a:bodyPr>
          <a:lstStyle/>
          <a:p>
            <a:pPr algn="l">
              <a:lnSpc>
                <a:spcPts val="4510"/>
              </a:lnSpc>
            </a:pPr>
            <a:r>
              <a:rPr lang="en-US" sz="3221" spc="-135">
                <a:solidFill>
                  <a:srgbClr val="F4F4F4"/>
                </a:solidFill>
                <a:latin typeface="Poppins"/>
                <a:ea typeface="Poppins"/>
                <a:cs typeface="Poppins"/>
                <a:sym typeface="Poppins"/>
              </a:rPr>
              <a:t>Source of the Data</a:t>
            </a:r>
          </a:p>
          <a:p>
            <a:pPr algn="l">
              <a:lnSpc>
                <a:spcPts val="4510"/>
              </a:lnSpc>
              <a:spcBef>
                <a:spcPct val="0"/>
              </a:spcBef>
            </a:pPr>
            <a:r>
              <a:rPr lang="en-US" sz="3221" spc="-135">
                <a:solidFill>
                  <a:srgbClr val="F4F4F4"/>
                </a:solidFill>
                <a:latin typeface="Poppins"/>
                <a:ea typeface="Poppins"/>
                <a:cs typeface="Poppins"/>
                <a:sym typeface="Poppins"/>
              </a:rPr>
              <a:t>The dataset was obtained from the sklearn.datasets module using the built-in load_wine() function</a:t>
            </a:r>
          </a:p>
        </p:txBody>
      </p:sp>
      <p:sp>
        <p:nvSpPr>
          <p:cNvPr id="6" name="TextBox 6"/>
          <p:cNvSpPr txBox="1"/>
          <p:nvPr/>
        </p:nvSpPr>
        <p:spPr>
          <a:xfrm>
            <a:off x="9481123" y="5010150"/>
            <a:ext cx="7778177" cy="875122"/>
          </a:xfrm>
          <a:prstGeom prst="rect">
            <a:avLst/>
          </a:prstGeom>
        </p:spPr>
        <p:txBody>
          <a:bodyPr lIns="0" tIns="0" rIns="0" bIns="0" rtlCol="0" anchor="t">
            <a:spAutoFit/>
          </a:bodyPr>
          <a:lstStyle/>
          <a:p>
            <a:pPr algn="ctr">
              <a:lnSpc>
                <a:spcPts val="6889"/>
              </a:lnSpc>
              <a:spcBef>
                <a:spcPct val="0"/>
              </a:spcBef>
            </a:pPr>
            <a:r>
              <a:rPr lang="en-US" sz="4921" b="1" spc="-206">
                <a:solidFill>
                  <a:srgbClr val="F4F4F4"/>
                </a:solidFill>
                <a:latin typeface="Poppins Bold"/>
                <a:ea typeface="Poppins Bold"/>
                <a:cs typeface="Poppins Bold"/>
                <a:sym typeface="Poppins Bold"/>
              </a:rPr>
              <a:t>Dataset Summary</a:t>
            </a:r>
          </a:p>
        </p:txBody>
      </p:sp>
      <p:sp>
        <p:nvSpPr>
          <p:cNvPr id="7" name="TextBox 7"/>
          <p:cNvSpPr txBox="1"/>
          <p:nvPr/>
        </p:nvSpPr>
        <p:spPr>
          <a:xfrm>
            <a:off x="9886703" y="6409147"/>
            <a:ext cx="8030990" cy="3066557"/>
          </a:xfrm>
          <a:prstGeom prst="rect">
            <a:avLst/>
          </a:prstGeom>
        </p:spPr>
        <p:txBody>
          <a:bodyPr lIns="0" tIns="0" rIns="0" bIns="0" rtlCol="0" anchor="t">
            <a:spAutoFit/>
          </a:bodyPr>
          <a:lstStyle/>
          <a:p>
            <a:pPr marL="621364" lvl="1" indent="-310682" algn="l">
              <a:lnSpc>
                <a:spcPts val="4029"/>
              </a:lnSpc>
              <a:buFont typeface="Arial"/>
              <a:buChar char="•"/>
            </a:pPr>
            <a:r>
              <a:rPr lang="en-US" sz="2878" spc="-120">
                <a:solidFill>
                  <a:srgbClr val="F4F4F4"/>
                </a:solidFill>
                <a:latin typeface="Poppins"/>
                <a:ea typeface="Poppins"/>
                <a:cs typeface="Poppins"/>
                <a:sym typeface="Poppins"/>
              </a:rPr>
              <a:t>Number of Records: 1,599 (red wine) or 4,898 (white wine)</a:t>
            </a:r>
          </a:p>
          <a:p>
            <a:pPr marL="621364" lvl="1" indent="-310682" algn="l">
              <a:lnSpc>
                <a:spcPts val="4029"/>
              </a:lnSpc>
              <a:buFont typeface="Arial"/>
              <a:buChar char="•"/>
            </a:pPr>
            <a:r>
              <a:rPr lang="en-US" sz="2878" spc="-120">
                <a:solidFill>
                  <a:srgbClr val="F4F4F4"/>
                </a:solidFill>
                <a:latin typeface="Poppins"/>
                <a:ea typeface="Poppins"/>
                <a:cs typeface="Poppins"/>
                <a:sym typeface="Poppins"/>
              </a:rPr>
              <a:t>Data Types: All features are numerical</a:t>
            </a:r>
          </a:p>
          <a:p>
            <a:pPr marL="621364" lvl="1" indent="-310682" algn="l">
              <a:lnSpc>
                <a:spcPts val="4029"/>
              </a:lnSpc>
              <a:spcBef>
                <a:spcPct val="0"/>
              </a:spcBef>
              <a:buFont typeface="Arial"/>
              <a:buChar char="•"/>
            </a:pPr>
            <a:r>
              <a:rPr lang="en-US" sz="2878" spc="-120">
                <a:solidFill>
                  <a:srgbClr val="F4F4F4"/>
                </a:solidFill>
                <a:latin typeface="Poppins"/>
                <a:ea typeface="Poppins"/>
                <a:cs typeface="Poppins"/>
                <a:sym typeface="Poppins"/>
              </a:rPr>
              <a:t>Missing Values: None detected – the dataset is clean</a:t>
            </a:r>
          </a:p>
          <a:p>
            <a:pPr algn="l">
              <a:lnSpc>
                <a:spcPts val="4029"/>
              </a:lnSpc>
              <a:spcBef>
                <a:spcPct val="0"/>
              </a:spcBef>
            </a:pPr>
            <a:endParaRPr lang="en-US" sz="2878" spc="-120">
              <a:solidFill>
                <a:srgbClr val="F4F4F4"/>
              </a:solidFill>
              <a:latin typeface="Poppins"/>
              <a:ea typeface="Poppins"/>
              <a:cs typeface="Poppins"/>
              <a:sym typeface="Poppins"/>
            </a:endParaRPr>
          </a:p>
        </p:txBody>
      </p:sp>
      <p:graphicFrame>
        <p:nvGraphicFramePr>
          <p:cNvPr id="10" name="Table 9">
            <a:extLst>
              <a:ext uri="{FF2B5EF4-FFF2-40B4-BE49-F238E27FC236}">
                <a16:creationId xmlns:a16="http://schemas.microsoft.com/office/drawing/2014/main" id="{59058A97-D60A-DC01-85CF-70E3B37EC733}"/>
              </a:ext>
            </a:extLst>
          </p:cNvPr>
          <p:cNvGraphicFramePr>
            <a:graphicFrameLocks noGrp="1"/>
          </p:cNvGraphicFramePr>
          <p:nvPr>
            <p:extLst>
              <p:ext uri="{D42A27DB-BD31-4B8C-83A1-F6EECF244321}">
                <p14:modId xmlns:p14="http://schemas.microsoft.com/office/powerpoint/2010/main" val="4047765797"/>
              </p:ext>
            </p:extLst>
          </p:nvPr>
        </p:nvGraphicFramePr>
        <p:xfrm>
          <a:off x="533400" y="1289443"/>
          <a:ext cx="7452398" cy="8696634"/>
        </p:xfrm>
        <a:graphic>
          <a:graphicData uri="http://schemas.openxmlformats.org/drawingml/2006/table">
            <a:tbl>
              <a:tblPr>
                <a:tableStyleId>{7E9639D4-E3E2-4D34-9284-5A2195B3D0D7}</a:tableStyleId>
              </a:tblPr>
              <a:tblGrid>
                <a:gridCol w="3535699">
                  <a:extLst>
                    <a:ext uri="{9D8B030D-6E8A-4147-A177-3AD203B41FA5}">
                      <a16:colId xmlns:a16="http://schemas.microsoft.com/office/drawing/2014/main" val="3616789249"/>
                    </a:ext>
                  </a:extLst>
                </a:gridCol>
                <a:gridCol w="3916699">
                  <a:extLst>
                    <a:ext uri="{9D8B030D-6E8A-4147-A177-3AD203B41FA5}">
                      <a16:colId xmlns:a16="http://schemas.microsoft.com/office/drawing/2014/main" val="3716041896"/>
                    </a:ext>
                  </a:extLst>
                </a:gridCol>
              </a:tblGrid>
              <a:tr h="605808">
                <a:tc>
                  <a:txBody>
                    <a:bodyPr/>
                    <a:lstStyle/>
                    <a:p>
                      <a:r>
                        <a:rPr lang="en-US" sz="4400" b="1">
                          <a:solidFill>
                            <a:schemeClr val="tx1"/>
                          </a:solidFill>
                        </a:rPr>
                        <a:t>Feature Name</a:t>
                      </a:r>
                      <a:endParaRPr lang="en-US" sz="4400">
                        <a:solidFill>
                          <a:schemeClr val="tx1"/>
                        </a:solidFill>
                      </a:endParaRPr>
                    </a:p>
                  </a:txBody>
                  <a:tcPr marL="87038" marR="87038" marT="43519" marB="43519" anchor="ctr">
                    <a:solidFill>
                      <a:schemeClr val="bg1"/>
                    </a:solidFill>
                  </a:tcPr>
                </a:tc>
                <a:tc>
                  <a:txBody>
                    <a:bodyPr/>
                    <a:lstStyle/>
                    <a:p>
                      <a:r>
                        <a:rPr lang="en-US" sz="4400" b="1" dirty="0">
                          <a:solidFill>
                            <a:schemeClr val="tx1"/>
                          </a:solidFill>
                        </a:rPr>
                        <a:t>Description</a:t>
                      </a:r>
                      <a:endParaRPr lang="en-US" sz="4400" dirty="0">
                        <a:solidFill>
                          <a:schemeClr val="tx1"/>
                        </a:solidFill>
                      </a:endParaRPr>
                    </a:p>
                  </a:txBody>
                  <a:tcPr marL="87038" marR="87038" marT="43519" marB="43519" anchor="ctr">
                    <a:solidFill>
                      <a:schemeClr val="bg1"/>
                    </a:solidFill>
                  </a:tcPr>
                </a:tc>
                <a:extLst>
                  <a:ext uri="{0D108BD9-81ED-4DB2-BD59-A6C34878D82A}">
                    <a16:rowId xmlns:a16="http://schemas.microsoft.com/office/drawing/2014/main" val="3476972886"/>
                  </a:ext>
                </a:extLst>
              </a:tr>
              <a:tr h="605808">
                <a:tc>
                  <a:txBody>
                    <a:bodyPr/>
                    <a:lstStyle/>
                    <a:p>
                      <a:r>
                        <a:rPr lang="en-US" sz="2800">
                          <a:solidFill>
                            <a:schemeClr val="tx1"/>
                          </a:solidFill>
                        </a:rPr>
                        <a:t>fixed_acidity</a:t>
                      </a:r>
                    </a:p>
                  </a:txBody>
                  <a:tcPr marL="87038" marR="87038" marT="43519" marB="43519" anchor="ctr">
                    <a:solidFill>
                      <a:schemeClr val="bg1"/>
                    </a:solidFill>
                  </a:tcPr>
                </a:tc>
                <a:tc>
                  <a:txBody>
                    <a:bodyPr/>
                    <a:lstStyle/>
                    <a:p>
                      <a:r>
                        <a:rPr lang="en-US" sz="2800">
                          <a:solidFill>
                            <a:schemeClr val="tx1"/>
                          </a:solidFill>
                        </a:rPr>
                        <a:t>Tartaric acid level</a:t>
                      </a:r>
                    </a:p>
                  </a:txBody>
                  <a:tcPr marL="87038" marR="87038" marT="43519" marB="43519" anchor="ctr">
                    <a:solidFill>
                      <a:schemeClr val="bg1"/>
                    </a:solidFill>
                  </a:tcPr>
                </a:tc>
                <a:extLst>
                  <a:ext uri="{0D108BD9-81ED-4DB2-BD59-A6C34878D82A}">
                    <a16:rowId xmlns:a16="http://schemas.microsoft.com/office/drawing/2014/main" val="1986422174"/>
                  </a:ext>
                </a:extLst>
              </a:tr>
              <a:tr h="605808">
                <a:tc>
                  <a:txBody>
                    <a:bodyPr/>
                    <a:lstStyle/>
                    <a:p>
                      <a:r>
                        <a:rPr lang="en-US" sz="2800">
                          <a:solidFill>
                            <a:schemeClr val="tx1"/>
                          </a:solidFill>
                        </a:rPr>
                        <a:t>volatile_acidity</a:t>
                      </a:r>
                    </a:p>
                  </a:txBody>
                  <a:tcPr marL="87038" marR="87038" marT="43519" marB="43519" anchor="ctr">
                    <a:solidFill>
                      <a:schemeClr val="bg1"/>
                    </a:solidFill>
                  </a:tcPr>
                </a:tc>
                <a:tc>
                  <a:txBody>
                    <a:bodyPr/>
                    <a:lstStyle/>
                    <a:p>
                      <a:r>
                        <a:rPr lang="en-US" sz="2800">
                          <a:solidFill>
                            <a:schemeClr val="tx1"/>
                          </a:solidFill>
                        </a:rPr>
                        <a:t>Acetic acid content</a:t>
                      </a:r>
                    </a:p>
                  </a:txBody>
                  <a:tcPr marL="87038" marR="87038" marT="43519" marB="43519"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4789261"/>
                  </a:ext>
                </a:extLst>
              </a:tr>
              <a:tr h="605808">
                <a:tc>
                  <a:txBody>
                    <a:bodyPr/>
                    <a:lstStyle/>
                    <a:p>
                      <a:r>
                        <a:rPr lang="en-US" sz="2800">
                          <a:solidFill>
                            <a:schemeClr val="tx1"/>
                          </a:solidFill>
                        </a:rPr>
                        <a:t>citric_acid</a:t>
                      </a:r>
                    </a:p>
                  </a:txBody>
                  <a:tcPr marL="87038" marR="87038" marT="43519" marB="43519" anchor="ctr">
                    <a:lnR w="12700" cap="flat" cmpd="sng" algn="ctr">
                      <a:solidFill>
                        <a:schemeClr val="tx1"/>
                      </a:solidFill>
                      <a:prstDash val="solid"/>
                      <a:round/>
                      <a:headEnd type="none" w="med" len="med"/>
                      <a:tailEnd type="none" w="med" len="med"/>
                    </a:lnR>
                    <a:solidFill>
                      <a:schemeClr val="bg1"/>
                    </a:solidFill>
                  </a:tcPr>
                </a:tc>
                <a:tc>
                  <a:txBody>
                    <a:bodyPr/>
                    <a:lstStyle/>
                    <a:p>
                      <a:r>
                        <a:rPr lang="en-US" sz="2800" dirty="0">
                          <a:solidFill>
                            <a:schemeClr val="tx1"/>
                          </a:solidFill>
                        </a:rPr>
                        <a:t>Citric acid level</a:t>
                      </a:r>
                    </a:p>
                  </a:txBody>
                  <a:tcPr marL="87038" marR="87038" marT="43519" marB="435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0044446"/>
                  </a:ext>
                </a:extLst>
              </a:tr>
              <a:tr h="605808">
                <a:tc>
                  <a:txBody>
                    <a:bodyPr/>
                    <a:lstStyle/>
                    <a:p>
                      <a:r>
                        <a:rPr lang="en-US" sz="2800">
                          <a:solidFill>
                            <a:schemeClr val="tx1"/>
                          </a:solidFill>
                        </a:rPr>
                        <a:t>residual_sugar</a:t>
                      </a:r>
                    </a:p>
                  </a:txBody>
                  <a:tcPr marL="87038" marR="87038" marT="43519" marB="43519" anchor="ctr">
                    <a:solidFill>
                      <a:schemeClr val="bg1"/>
                    </a:solidFill>
                  </a:tcPr>
                </a:tc>
                <a:tc>
                  <a:txBody>
                    <a:bodyPr/>
                    <a:lstStyle/>
                    <a:p>
                      <a:r>
                        <a:rPr lang="en-US" sz="2800">
                          <a:solidFill>
                            <a:schemeClr val="tx1"/>
                          </a:solidFill>
                        </a:rPr>
                        <a:t>Sugar after fermentation</a:t>
                      </a:r>
                    </a:p>
                  </a:txBody>
                  <a:tcPr marL="87038" marR="87038" marT="43519" marB="43519" anchor="ct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220591194"/>
                  </a:ext>
                </a:extLst>
              </a:tr>
              <a:tr h="605808">
                <a:tc>
                  <a:txBody>
                    <a:bodyPr/>
                    <a:lstStyle/>
                    <a:p>
                      <a:r>
                        <a:rPr lang="en-US" sz="2800">
                          <a:solidFill>
                            <a:schemeClr val="tx1"/>
                          </a:solidFill>
                        </a:rPr>
                        <a:t>chlorides</a:t>
                      </a:r>
                    </a:p>
                  </a:txBody>
                  <a:tcPr marL="87038" marR="87038" marT="43519" marB="43519" anchor="ctr">
                    <a:solidFill>
                      <a:schemeClr val="bg1"/>
                    </a:solidFill>
                  </a:tcPr>
                </a:tc>
                <a:tc>
                  <a:txBody>
                    <a:bodyPr/>
                    <a:lstStyle/>
                    <a:p>
                      <a:r>
                        <a:rPr lang="en-US" sz="2800">
                          <a:solidFill>
                            <a:schemeClr val="tx1"/>
                          </a:solidFill>
                        </a:rPr>
                        <a:t>Salt content</a:t>
                      </a:r>
                    </a:p>
                  </a:txBody>
                  <a:tcPr marL="87038" marR="87038" marT="43519" marB="43519" anchor="ctr">
                    <a:solidFill>
                      <a:schemeClr val="bg1"/>
                    </a:solidFill>
                  </a:tcPr>
                </a:tc>
                <a:extLst>
                  <a:ext uri="{0D108BD9-81ED-4DB2-BD59-A6C34878D82A}">
                    <a16:rowId xmlns:a16="http://schemas.microsoft.com/office/drawing/2014/main" val="2805822546"/>
                  </a:ext>
                </a:extLst>
              </a:tr>
              <a:tr h="605808">
                <a:tc>
                  <a:txBody>
                    <a:bodyPr/>
                    <a:lstStyle/>
                    <a:p>
                      <a:r>
                        <a:rPr lang="en-US" sz="2800">
                          <a:solidFill>
                            <a:schemeClr val="tx1"/>
                          </a:solidFill>
                        </a:rPr>
                        <a:t>free_sulfur_dioxide</a:t>
                      </a:r>
                    </a:p>
                  </a:txBody>
                  <a:tcPr marL="87038" marR="87038" marT="43519" marB="43519" anchor="ctr">
                    <a:solidFill>
                      <a:schemeClr val="bg1"/>
                    </a:solidFill>
                  </a:tcPr>
                </a:tc>
                <a:tc>
                  <a:txBody>
                    <a:bodyPr/>
                    <a:lstStyle/>
                    <a:p>
                      <a:r>
                        <a:rPr lang="en-US" sz="2800" dirty="0">
                          <a:solidFill>
                            <a:schemeClr val="tx1"/>
                          </a:solidFill>
                        </a:rPr>
                        <a:t>Antioxidant level</a:t>
                      </a:r>
                    </a:p>
                  </a:txBody>
                  <a:tcPr marL="87038" marR="87038" marT="43519" marB="43519" anchor="ctr">
                    <a:solidFill>
                      <a:schemeClr val="bg1"/>
                    </a:solidFill>
                  </a:tcPr>
                </a:tc>
                <a:extLst>
                  <a:ext uri="{0D108BD9-81ED-4DB2-BD59-A6C34878D82A}">
                    <a16:rowId xmlns:a16="http://schemas.microsoft.com/office/drawing/2014/main" val="129008699"/>
                  </a:ext>
                </a:extLst>
              </a:tr>
              <a:tr h="605808">
                <a:tc>
                  <a:txBody>
                    <a:bodyPr/>
                    <a:lstStyle/>
                    <a:p>
                      <a:r>
                        <a:rPr lang="en-US" sz="2800">
                          <a:solidFill>
                            <a:schemeClr val="tx1"/>
                          </a:solidFill>
                        </a:rPr>
                        <a:t>total_sulfur_dioxide</a:t>
                      </a:r>
                    </a:p>
                  </a:txBody>
                  <a:tcPr marL="87038" marR="87038" marT="43519" marB="43519" anchor="ctr">
                    <a:solidFill>
                      <a:schemeClr val="bg1"/>
                    </a:solidFill>
                  </a:tcPr>
                </a:tc>
                <a:tc>
                  <a:txBody>
                    <a:bodyPr/>
                    <a:lstStyle/>
                    <a:p>
                      <a:r>
                        <a:rPr lang="en-US" sz="2800">
                          <a:solidFill>
                            <a:schemeClr val="tx1"/>
                          </a:solidFill>
                        </a:rPr>
                        <a:t>Preservative content</a:t>
                      </a:r>
                    </a:p>
                  </a:txBody>
                  <a:tcPr marL="87038" marR="87038" marT="43519" marB="43519" anchor="ctr">
                    <a:solidFill>
                      <a:schemeClr val="bg1"/>
                    </a:solidFill>
                  </a:tcPr>
                </a:tc>
                <a:extLst>
                  <a:ext uri="{0D108BD9-81ED-4DB2-BD59-A6C34878D82A}">
                    <a16:rowId xmlns:a16="http://schemas.microsoft.com/office/drawing/2014/main" val="2048411680"/>
                  </a:ext>
                </a:extLst>
              </a:tr>
              <a:tr h="605808">
                <a:tc>
                  <a:txBody>
                    <a:bodyPr/>
                    <a:lstStyle/>
                    <a:p>
                      <a:r>
                        <a:rPr lang="en-US" sz="2800">
                          <a:solidFill>
                            <a:schemeClr val="tx1"/>
                          </a:solidFill>
                        </a:rPr>
                        <a:t>density</a:t>
                      </a:r>
                    </a:p>
                  </a:txBody>
                  <a:tcPr marL="87038" marR="87038" marT="43519" marB="43519" anchor="ctr">
                    <a:solidFill>
                      <a:schemeClr val="bg1"/>
                    </a:solidFill>
                  </a:tcPr>
                </a:tc>
                <a:tc>
                  <a:txBody>
                    <a:bodyPr/>
                    <a:lstStyle/>
                    <a:p>
                      <a:r>
                        <a:rPr lang="en-US" sz="2800" dirty="0">
                          <a:solidFill>
                            <a:schemeClr val="tx1"/>
                          </a:solidFill>
                        </a:rPr>
                        <a:t>Relative density of the wine</a:t>
                      </a:r>
                    </a:p>
                  </a:txBody>
                  <a:tcPr marL="87038" marR="87038" marT="43519" marB="43519" anchor="ctr">
                    <a:solidFill>
                      <a:schemeClr val="bg1"/>
                    </a:solidFill>
                  </a:tcPr>
                </a:tc>
                <a:extLst>
                  <a:ext uri="{0D108BD9-81ED-4DB2-BD59-A6C34878D82A}">
                    <a16:rowId xmlns:a16="http://schemas.microsoft.com/office/drawing/2014/main" val="1669065516"/>
                  </a:ext>
                </a:extLst>
              </a:tr>
              <a:tr h="605808">
                <a:tc>
                  <a:txBody>
                    <a:bodyPr/>
                    <a:lstStyle/>
                    <a:p>
                      <a:r>
                        <a:rPr lang="en-US" sz="2800">
                          <a:solidFill>
                            <a:schemeClr val="tx1"/>
                          </a:solidFill>
                        </a:rPr>
                        <a:t>pH</a:t>
                      </a:r>
                    </a:p>
                  </a:txBody>
                  <a:tcPr marL="87038" marR="87038" marT="43519" marB="43519" anchor="ctr">
                    <a:solidFill>
                      <a:schemeClr val="bg1"/>
                    </a:solidFill>
                  </a:tcPr>
                </a:tc>
                <a:tc>
                  <a:txBody>
                    <a:bodyPr/>
                    <a:lstStyle/>
                    <a:p>
                      <a:r>
                        <a:rPr lang="en-US" sz="2800">
                          <a:solidFill>
                            <a:schemeClr val="tx1"/>
                          </a:solidFill>
                        </a:rPr>
                        <a:t>Acidity level</a:t>
                      </a:r>
                    </a:p>
                  </a:txBody>
                  <a:tcPr marL="87038" marR="87038" marT="43519" marB="43519" anchor="ctr">
                    <a:solidFill>
                      <a:schemeClr val="bg1"/>
                    </a:solidFill>
                  </a:tcPr>
                </a:tc>
                <a:extLst>
                  <a:ext uri="{0D108BD9-81ED-4DB2-BD59-A6C34878D82A}">
                    <a16:rowId xmlns:a16="http://schemas.microsoft.com/office/drawing/2014/main" val="3330513131"/>
                  </a:ext>
                </a:extLst>
              </a:tr>
              <a:tr h="605808">
                <a:tc>
                  <a:txBody>
                    <a:bodyPr/>
                    <a:lstStyle/>
                    <a:p>
                      <a:r>
                        <a:rPr lang="en-US" sz="2800">
                          <a:solidFill>
                            <a:schemeClr val="tx1"/>
                          </a:solidFill>
                        </a:rPr>
                        <a:t>sulphates</a:t>
                      </a:r>
                    </a:p>
                  </a:txBody>
                  <a:tcPr marL="87038" marR="87038" marT="43519" marB="43519" anchor="ctr">
                    <a:solidFill>
                      <a:schemeClr val="bg1"/>
                    </a:solidFill>
                  </a:tcPr>
                </a:tc>
                <a:tc>
                  <a:txBody>
                    <a:bodyPr/>
                    <a:lstStyle/>
                    <a:p>
                      <a:r>
                        <a:rPr lang="en-US" sz="2800">
                          <a:solidFill>
                            <a:schemeClr val="tx1"/>
                          </a:solidFill>
                        </a:rPr>
                        <a:t>Sulfate level (stabilizer)</a:t>
                      </a:r>
                    </a:p>
                  </a:txBody>
                  <a:tcPr marL="87038" marR="87038" marT="43519" marB="43519" anchor="ctr">
                    <a:solidFill>
                      <a:schemeClr val="bg1"/>
                    </a:solidFill>
                  </a:tcPr>
                </a:tc>
                <a:extLst>
                  <a:ext uri="{0D108BD9-81ED-4DB2-BD59-A6C34878D82A}">
                    <a16:rowId xmlns:a16="http://schemas.microsoft.com/office/drawing/2014/main" val="1778250793"/>
                  </a:ext>
                </a:extLst>
              </a:tr>
              <a:tr h="605808">
                <a:tc>
                  <a:txBody>
                    <a:bodyPr/>
                    <a:lstStyle/>
                    <a:p>
                      <a:r>
                        <a:rPr lang="en-US" sz="2800">
                          <a:solidFill>
                            <a:schemeClr val="tx1"/>
                          </a:solidFill>
                        </a:rPr>
                        <a:t>alcohol</a:t>
                      </a:r>
                    </a:p>
                  </a:txBody>
                  <a:tcPr marL="87038" marR="87038" marT="43519" marB="43519" anchor="ctr">
                    <a:solidFill>
                      <a:schemeClr val="bg1"/>
                    </a:solidFill>
                  </a:tcPr>
                </a:tc>
                <a:tc>
                  <a:txBody>
                    <a:bodyPr/>
                    <a:lstStyle/>
                    <a:p>
                      <a:r>
                        <a:rPr lang="en-US" sz="2800">
                          <a:solidFill>
                            <a:schemeClr val="tx1"/>
                          </a:solidFill>
                        </a:rPr>
                        <a:t>Alcohol percentage</a:t>
                      </a:r>
                    </a:p>
                  </a:txBody>
                  <a:tcPr marL="87038" marR="87038" marT="43519" marB="43519" anchor="ctr">
                    <a:solidFill>
                      <a:schemeClr val="bg1"/>
                    </a:solidFill>
                  </a:tcPr>
                </a:tc>
                <a:extLst>
                  <a:ext uri="{0D108BD9-81ED-4DB2-BD59-A6C34878D82A}">
                    <a16:rowId xmlns:a16="http://schemas.microsoft.com/office/drawing/2014/main" val="2458134500"/>
                  </a:ext>
                </a:extLst>
              </a:tr>
              <a:tr h="605808">
                <a:tc>
                  <a:txBody>
                    <a:bodyPr/>
                    <a:lstStyle/>
                    <a:p>
                      <a:r>
                        <a:rPr lang="en-US" sz="2800">
                          <a:solidFill>
                            <a:schemeClr val="tx1"/>
                          </a:solidFill>
                        </a:rPr>
                        <a:t>quality</a:t>
                      </a:r>
                    </a:p>
                  </a:txBody>
                  <a:tcPr marL="87038" marR="87038" marT="43519" marB="43519" anchor="ctr">
                    <a:solidFill>
                      <a:schemeClr val="bg1"/>
                    </a:solidFill>
                  </a:tcPr>
                </a:tc>
                <a:tc>
                  <a:txBody>
                    <a:bodyPr/>
                    <a:lstStyle/>
                    <a:p>
                      <a:r>
                        <a:rPr lang="en-US" sz="2800" dirty="0">
                          <a:solidFill>
                            <a:schemeClr val="tx1"/>
                          </a:solidFill>
                        </a:rPr>
                        <a:t>Target variable (quality score)</a:t>
                      </a:r>
                    </a:p>
                  </a:txBody>
                  <a:tcPr marL="87038" marR="87038" marT="43519" marB="43519" anchor="ctr">
                    <a:solidFill>
                      <a:schemeClr val="bg1"/>
                    </a:solidFill>
                  </a:tcPr>
                </a:tc>
                <a:extLst>
                  <a:ext uri="{0D108BD9-81ED-4DB2-BD59-A6C34878D82A}">
                    <a16:rowId xmlns:a16="http://schemas.microsoft.com/office/drawing/2014/main" val="101701620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BDC74D90-5998-9555-0E27-9D5FF08A297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280DB52-5952-E12D-818F-D9551A8C045B}"/>
              </a:ext>
            </a:extLst>
          </p:cNvPr>
          <p:cNvSpPr txBox="1"/>
          <p:nvPr/>
        </p:nvSpPr>
        <p:spPr>
          <a:xfrm>
            <a:off x="1143000" y="-114300"/>
            <a:ext cx="14322254" cy="951414"/>
          </a:xfrm>
          <a:prstGeom prst="rect">
            <a:avLst/>
          </a:prstGeom>
        </p:spPr>
        <p:txBody>
          <a:bodyPr lIns="0" tIns="0" rIns="0" bIns="0" rtlCol="0" anchor="t">
            <a:spAutoFit/>
          </a:bodyPr>
          <a:lstStyle/>
          <a:p>
            <a:pPr algn="ctr">
              <a:lnSpc>
                <a:spcPts val="8122"/>
              </a:lnSpc>
            </a:pPr>
            <a:r>
              <a:rPr lang="en-US" sz="4800" b="1" spc="-359" dirty="0">
                <a:solidFill>
                  <a:srgbClr val="F4F4F4"/>
                </a:solidFill>
                <a:latin typeface="Poppins Medium"/>
                <a:ea typeface="Poppins Medium"/>
                <a:cs typeface="Poppins Medium"/>
                <a:sym typeface="Poppins Medium"/>
              </a:rPr>
              <a:t>Normal Distribution Features</a:t>
            </a:r>
          </a:p>
        </p:txBody>
      </p:sp>
      <p:sp>
        <p:nvSpPr>
          <p:cNvPr id="3" name="Freeform 3">
            <a:extLst>
              <a:ext uri="{FF2B5EF4-FFF2-40B4-BE49-F238E27FC236}">
                <a16:creationId xmlns:a16="http://schemas.microsoft.com/office/drawing/2014/main" id="{55435C4F-4E36-FA0C-21C1-E4E75B4D45A2}"/>
              </a:ext>
            </a:extLst>
          </p:cNvPr>
          <p:cNvSpPr/>
          <p:nvPr/>
        </p:nvSpPr>
        <p:spPr>
          <a:xfrm>
            <a:off x="228600" y="833520"/>
            <a:ext cx="8384333" cy="5665574"/>
          </a:xfrm>
          <a:custGeom>
            <a:avLst/>
            <a:gdLst/>
            <a:ahLst/>
            <a:cxnLst/>
            <a:rect l="l" t="t" r="r" b="b"/>
            <a:pathLst>
              <a:path w="8384333" h="5665574">
                <a:moveTo>
                  <a:pt x="0" y="0"/>
                </a:moveTo>
                <a:lnTo>
                  <a:pt x="8384333" y="0"/>
                </a:lnTo>
                <a:lnTo>
                  <a:pt x="8384333" y="5665574"/>
                </a:lnTo>
                <a:lnTo>
                  <a:pt x="0" y="5665574"/>
                </a:lnTo>
                <a:lnTo>
                  <a:pt x="0" y="0"/>
                </a:lnTo>
                <a:close/>
              </a:path>
            </a:pathLst>
          </a:custGeom>
          <a:blipFill>
            <a:blip r:embed="rId2"/>
            <a:stretch>
              <a:fillRect l="-7665" t="-1916" b="-4304"/>
            </a:stretch>
          </a:blipFill>
        </p:spPr>
      </p:sp>
      <p:sp>
        <p:nvSpPr>
          <p:cNvPr id="11" name="TextBox 10">
            <a:extLst>
              <a:ext uri="{FF2B5EF4-FFF2-40B4-BE49-F238E27FC236}">
                <a16:creationId xmlns:a16="http://schemas.microsoft.com/office/drawing/2014/main" id="{DA34C0F3-E3A9-94A7-AFE6-2DA0C04B8C06}"/>
              </a:ext>
            </a:extLst>
          </p:cNvPr>
          <p:cNvSpPr txBox="1"/>
          <p:nvPr/>
        </p:nvSpPr>
        <p:spPr>
          <a:xfrm>
            <a:off x="0" y="6545630"/>
            <a:ext cx="9144000" cy="3738588"/>
          </a:xfrm>
          <a:prstGeom prst="rect">
            <a:avLst/>
          </a:prstGeom>
          <a:noFill/>
        </p:spPr>
        <p:txBody>
          <a:bodyPr wrap="square">
            <a:spAutoFit/>
          </a:bodyPr>
          <a:lstStyle/>
          <a:p>
            <a:pPr algn="just">
              <a:lnSpc>
                <a:spcPts val="2239"/>
              </a:lnSpc>
            </a:pPr>
            <a:r>
              <a:rPr lang="en-US" sz="1599" dirty="0">
                <a:solidFill>
                  <a:srgbClr val="F4F4F4"/>
                </a:solidFill>
                <a:latin typeface="Inter Extra-Light"/>
                <a:ea typeface="Inter Extra-Light"/>
                <a:cs typeface="Inter Extra-Light"/>
                <a:sym typeface="Inter Extra-Light"/>
              </a:rPr>
              <a:t>Summary of Findings</a:t>
            </a:r>
          </a:p>
          <a:p>
            <a:pPr marL="345439" lvl="1" indent="-172720" algn="just">
              <a:lnSpc>
                <a:spcPts val="2239"/>
              </a:lnSpc>
              <a:buAutoNum type="arabicPeriod"/>
            </a:pPr>
            <a:r>
              <a:rPr lang="en-US" sz="1599" dirty="0">
                <a:solidFill>
                  <a:srgbClr val="F4F4F4"/>
                </a:solidFill>
                <a:latin typeface="Inter Extra-Light"/>
                <a:ea typeface="Inter Extra-Light"/>
                <a:cs typeface="Inter Extra-Light"/>
                <a:sym typeface="Inter Extra-Light"/>
              </a:rPr>
              <a:t>Most features are right-skewed – such as </a:t>
            </a:r>
            <a:r>
              <a:rPr lang="en-US" sz="1599" dirty="0" err="1">
                <a:solidFill>
                  <a:srgbClr val="F4F4F4"/>
                </a:solidFill>
                <a:latin typeface="Inter Extra-Light"/>
                <a:ea typeface="Inter Extra-Light"/>
                <a:cs typeface="Inter Extra-Light"/>
                <a:sym typeface="Inter Extra-Light"/>
              </a:rPr>
              <a:t>malic_acid</a:t>
            </a:r>
            <a:r>
              <a:rPr lang="en-US" sz="1599" dirty="0">
                <a:solidFill>
                  <a:srgbClr val="F4F4F4"/>
                </a:solidFill>
                <a:latin typeface="Inter Extra-Light"/>
                <a:ea typeface="Inter Extra-Light"/>
                <a:cs typeface="Inter Extra-Light"/>
                <a:sym typeface="Inter Extra-Light"/>
              </a:rPr>
              <a:t>, magnesium, proline, and </a:t>
            </a:r>
            <a:r>
              <a:rPr lang="en-US" sz="1599" dirty="0" err="1">
                <a:solidFill>
                  <a:srgbClr val="F4F4F4"/>
                </a:solidFill>
                <a:latin typeface="Inter Extra-Light"/>
                <a:ea typeface="Inter Extra-Light"/>
                <a:cs typeface="Inter Extra-Light"/>
                <a:sym typeface="Inter Extra-Light"/>
              </a:rPr>
              <a:t>color_intensity</a:t>
            </a:r>
            <a:r>
              <a:rPr lang="en-US" sz="1599" dirty="0">
                <a:solidFill>
                  <a:srgbClr val="F4F4F4"/>
                </a:solidFill>
                <a:latin typeface="Inter Extra-Light"/>
                <a:ea typeface="Inter Extra-Light"/>
                <a:cs typeface="Inter Extra-Light"/>
                <a:sym typeface="Inter Extra-Light"/>
              </a:rPr>
              <a:t>. This suggests a concentration of lower values with fewer high-value outliers.</a:t>
            </a:r>
          </a:p>
          <a:p>
            <a:pPr marL="345439" lvl="1" indent="-172720" algn="just">
              <a:lnSpc>
                <a:spcPts val="2239"/>
              </a:lnSpc>
              <a:buAutoNum type="arabicPeriod"/>
            </a:pPr>
            <a:r>
              <a:rPr lang="en-US" sz="1599" dirty="0">
                <a:solidFill>
                  <a:srgbClr val="F4F4F4"/>
                </a:solidFill>
                <a:latin typeface="Inter Extra-Light"/>
                <a:ea typeface="Inter Extra-Light"/>
                <a:cs typeface="Inter Extra-Light"/>
                <a:sym typeface="Inter Extra-Light"/>
              </a:rPr>
              <a:t>Some features are roughly normally distributed, like ash, alcohol, and hue, making them well-suited for models assuming normality.</a:t>
            </a:r>
          </a:p>
          <a:p>
            <a:pPr marL="345439" lvl="1" indent="-172720" algn="just">
              <a:lnSpc>
                <a:spcPts val="2239"/>
              </a:lnSpc>
              <a:buAutoNum type="arabicPeriod"/>
            </a:pPr>
            <a:r>
              <a:rPr lang="en-US" sz="1599" dirty="0">
                <a:solidFill>
                  <a:srgbClr val="F4F4F4"/>
                </a:solidFill>
                <a:latin typeface="Inter Extra-Light"/>
                <a:ea typeface="Inter Extra-Light"/>
                <a:cs typeface="Inter Extra-Light"/>
                <a:sym typeface="Inter Extra-Light"/>
              </a:rPr>
              <a:t>A few features show bimodal patterns, especially </a:t>
            </a:r>
            <a:r>
              <a:rPr lang="en-US" sz="1599" dirty="0" err="1">
                <a:solidFill>
                  <a:srgbClr val="F4F4F4"/>
                </a:solidFill>
                <a:latin typeface="Inter Extra-Light"/>
                <a:ea typeface="Inter Extra-Light"/>
                <a:cs typeface="Inter Extra-Light"/>
                <a:sym typeface="Inter Extra-Light"/>
              </a:rPr>
              <a:t>flavanoids</a:t>
            </a:r>
            <a:r>
              <a:rPr lang="en-US" sz="1599" dirty="0">
                <a:solidFill>
                  <a:srgbClr val="F4F4F4"/>
                </a:solidFill>
                <a:latin typeface="Inter Extra-Light"/>
                <a:ea typeface="Inter Extra-Light"/>
                <a:cs typeface="Inter Extra-Light"/>
                <a:sym typeface="Inter Extra-Light"/>
              </a:rPr>
              <a:t> and od280/od315_of_diluted_wines. This could indicate strong class-separating potential.</a:t>
            </a:r>
          </a:p>
          <a:p>
            <a:pPr marL="345439" lvl="1" indent="-172720" algn="just">
              <a:lnSpc>
                <a:spcPts val="2239"/>
              </a:lnSpc>
              <a:buAutoNum type="arabicPeriod"/>
            </a:pPr>
            <a:r>
              <a:rPr lang="en-US" sz="1599" dirty="0">
                <a:solidFill>
                  <a:srgbClr val="F4F4F4"/>
                </a:solidFill>
                <a:latin typeface="Inter Extra-Light"/>
                <a:ea typeface="Inter Extra-Light"/>
                <a:cs typeface="Inter Extra-Light"/>
                <a:sym typeface="Inter Extra-Light"/>
              </a:rPr>
              <a:t>Proline has a wide range with a strong right skew, indicating it could be a powerful differentiator among wine types.</a:t>
            </a:r>
          </a:p>
          <a:p>
            <a:pPr marL="345439" lvl="1" indent="-172720" algn="just">
              <a:lnSpc>
                <a:spcPts val="2239"/>
              </a:lnSpc>
              <a:spcBef>
                <a:spcPct val="0"/>
              </a:spcBef>
              <a:buAutoNum type="arabicPeriod"/>
            </a:pPr>
            <a:r>
              <a:rPr lang="en-US" sz="1599" dirty="0">
                <a:solidFill>
                  <a:srgbClr val="F4F4F4"/>
                </a:solidFill>
                <a:latin typeface="Inter Extra-Light"/>
                <a:ea typeface="Inter Extra-Light"/>
                <a:cs typeface="Inter Extra-Light"/>
                <a:sym typeface="Inter Extra-Light"/>
              </a:rPr>
              <a:t>Feature transformation (e.g., log scaling) might be helpful for skewed features to improve model performance.</a:t>
            </a:r>
          </a:p>
          <a:p>
            <a:pPr algn="just">
              <a:lnSpc>
                <a:spcPts val="2239"/>
              </a:lnSpc>
              <a:spcBef>
                <a:spcPct val="0"/>
              </a:spcBef>
            </a:pPr>
            <a:endParaRPr lang="en-US" sz="1599" dirty="0">
              <a:solidFill>
                <a:srgbClr val="F4F4F4"/>
              </a:solidFill>
              <a:latin typeface="Inter Extra-Light"/>
              <a:ea typeface="Inter Extra-Light"/>
              <a:cs typeface="Inter Extra-Light"/>
              <a:sym typeface="Inter Extra-Light"/>
            </a:endParaRPr>
          </a:p>
        </p:txBody>
      </p:sp>
      <p:graphicFrame>
        <p:nvGraphicFramePr>
          <p:cNvPr id="12" name="Table 11">
            <a:extLst>
              <a:ext uri="{FF2B5EF4-FFF2-40B4-BE49-F238E27FC236}">
                <a16:creationId xmlns:a16="http://schemas.microsoft.com/office/drawing/2014/main" id="{34D1D1F1-1FFC-74B6-8799-CF1C7AC362B7}"/>
              </a:ext>
            </a:extLst>
          </p:cNvPr>
          <p:cNvGraphicFramePr>
            <a:graphicFrameLocks noGrp="1"/>
          </p:cNvGraphicFramePr>
          <p:nvPr>
            <p:extLst>
              <p:ext uri="{D42A27DB-BD31-4B8C-83A1-F6EECF244321}">
                <p14:modId xmlns:p14="http://schemas.microsoft.com/office/powerpoint/2010/main" val="2193611027"/>
              </p:ext>
            </p:extLst>
          </p:nvPr>
        </p:nvGraphicFramePr>
        <p:xfrm>
          <a:off x="9144000" y="833520"/>
          <a:ext cx="8991600" cy="9210741"/>
        </p:xfrm>
        <a:graphic>
          <a:graphicData uri="http://schemas.openxmlformats.org/drawingml/2006/table">
            <a:tbl>
              <a:tblPr>
                <a:tableStyleId>{9D7B26C5-4107-4FEC-AEDC-1716B250A1EF}</a:tableStyleId>
              </a:tblPr>
              <a:tblGrid>
                <a:gridCol w="2997200">
                  <a:extLst>
                    <a:ext uri="{9D8B030D-6E8A-4147-A177-3AD203B41FA5}">
                      <a16:colId xmlns:a16="http://schemas.microsoft.com/office/drawing/2014/main" val="3693841914"/>
                    </a:ext>
                  </a:extLst>
                </a:gridCol>
                <a:gridCol w="2997200">
                  <a:extLst>
                    <a:ext uri="{9D8B030D-6E8A-4147-A177-3AD203B41FA5}">
                      <a16:colId xmlns:a16="http://schemas.microsoft.com/office/drawing/2014/main" val="399256864"/>
                    </a:ext>
                  </a:extLst>
                </a:gridCol>
                <a:gridCol w="2997200">
                  <a:extLst>
                    <a:ext uri="{9D8B030D-6E8A-4147-A177-3AD203B41FA5}">
                      <a16:colId xmlns:a16="http://schemas.microsoft.com/office/drawing/2014/main" val="4009726564"/>
                    </a:ext>
                  </a:extLst>
                </a:gridCol>
              </a:tblGrid>
              <a:tr h="459339">
                <a:tc>
                  <a:txBody>
                    <a:bodyPr/>
                    <a:lstStyle/>
                    <a:p>
                      <a:r>
                        <a:rPr lang="en-US" sz="2800" b="1"/>
                        <a:t>Feature</a:t>
                      </a:r>
                      <a:endParaRPr lang="en-US" sz="2800"/>
                    </a:p>
                  </a:txBody>
                  <a:tcPr marL="56575" marR="56575" marT="28287" marB="28287" anchor="ctr">
                    <a:solidFill>
                      <a:schemeClr val="bg1"/>
                    </a:solidFill>
                  </a:tcPr>
                </a:tc>
                <a:tc>
                  <a:txBody>
                    <a:bodyPr/>
                    <a:lstStyle/>
                    <a:p>
                      <a:r>
                        <a:rPr lang="en-US" sz="2800" b="1" dirty="0"/>
                        <a:t>Distribution Shape</a:t>
                      </a:r>
                      <a:endParaRPr lang="en-US" sz="2800" dirty="0"/>
                    </a:p>
                  </a:txBody>
                  <a:tcPr marL="56575" marR="56575" marT="28287" marB="28287" anchor="ctr">
                    <a:solidFill>
                      <a:schemeClr val="bg1"/>
                    </a:solidFill>
                  </a:tcPr>
                </a:tc>
                <a:tc>
                  <a:txBody>
                    <a:bodyPr/>
                    <a:lstStyle/>
                    <a:p>
                      <a:r>
                        <a:rPr lang="en-US" sz="2800" b="1" dirty="0"/>
                        <a:t>Insight</a:t>
                      </a:r>
                      <a:endParaRPr lang="en-US" sz="2800" dirty="0"/>
                    </a:p>
                  </a:txBody>
                  <a:tcPr marL="56575" marR="56575" marT="28287" marB="28287" anchor="ctr">
                    <a:solidFill>
                      <a:schemeClr val="bg1"/>
                    </a:solidFill>
                  </a:tcPr>
                </a:tc>
                <a:extLst>
                  <a:ext uri="{0D108BD9-81ED-4DB2-BD59-A6C34878D82A}">
                    <a16:rowId xmlns:a16="http://schemas.microsoft.com/office/drawing/2014/main" val="1971884465"/>
                  </a:ext>
                </a:extLst>
              </a:tr>
              <a:tr h="803844">
                <a:tc>
                  <a:txBody>
                    <a:bodyPr/>
                    <a:lstStyle/>
                    <a:p>
                      <a:r>
                        <a:rPr lang="en-US" sz="2000"/>
                        <a:t>alcohol</a:t>
                      </a:r>
                    </a:p>
                  </a:txBody>
                  <a:tcPr marL="56575" marR="56575" marT="28287" marB="28287" anchor="ctr">
                    <a:solidFill>
                      <a:schemeClr val="bg1"/>
                    </a:solidFill>
                  </a:tcPr>
                </a:tc>
                <a:tc>
                  <a:txBody>
                    <a:bodyPr/>
                    <a:lstStyle/>
                    <a:p>
                      <a:r>
                        <a:rPr lang="en-US" sz="2000" dirty="0"/>
                        <a:t>Symmetrical, slightly skewed</a:t>
                      </a:r>
                    </a:p>
                  </a:txBody>
                  <a:tcPr marL="56575" marR="56575" marT="28287" marB="28287" anchor="ctr">
                    <a:solidFill>
                      <a:schemeClr val="bg1"/>
                    </a:solidFill>
                  </a:tcPr>
                </a:tc>
                <a:tc>
                  <a:txBody>
                    <a:bodyPr/>
                    <a:lstStyle/>
                    <a:p>
                      <a:r>
                        <a:rPr lang="en-US" sz="2000"/>
                        <a:t>Normal-like distribution</a:t>
                      </a:r>
                    </a:p>
                  </a:txBody>
                  <a:tcPr marL="56575" marR="56575" marT="28287" marB="28287" anchor="ctr">
                    <a:solidFill>
                      <a:schemeClr val="bg1"/>
                    </a:solidFill>
                  </a:tcPr>
                </a:tc>
                <a:extLst>
                  <a:ext uri="{0D108BD9-81ED-4DB2-BD59-A6C34878D82A}">
                    <a16:rowId xmlns:a16="http://schemas.microsoft.com/office/drawing/2014/main" val="3632132031"/>
                  </a:ext>
                </a:extLst>
              </a:tr>
              <a:tr h="803844">
                <a:tc>
                  <a:txBody>
                    <a:bodyPr/>
                    <a:lstStyle/>
                    <a:p>
                      <a:r>
                        <a:rPr lang="en-US" sz="2000"/>
                        <a:t>malic_acid</a:t>
                      </a:r>
                    </a:p>
                  </a:txBody>
                  <a:tcPr marL="56575" marR="56575" marT="28287" marB="28287" anchor="ctr">
                    <a:solidFill>
                      <a:schemeClr val="bg1"/>
                    </a:solidFill>
                  </a:tcPr>
                </a:tc>
                <a:tc>
                  <a:txBody>
                    <a:bodyPr/>
                    <a:lstStyle/>
                    <a:p>
                      <a:r>
                        <a:rPr lang="en-US" sz="2000"/>
                        <a:t>Right-skewed</a:t>
                      </a:r>
                    </a:p>
                  </a:txBody>
                  <a:tcPr marL="56575" marR="56575" marT="28287" marB="28287" anchor="ctr">
                    <a:solidFill>
                      <a:schemeClr val="bg1"/>
                    </a:solidFill>
                  </a:tcPr>
                </a:tc>
                <a:tc>
                  <a:txBody>
                    <a:bodyPr/>
                    <a:lstStyle/>
                    <a:p>
                      <a:r>
                        <a:rPr lang="en-US" sz="2000"/>
                        <a:t>Most wines have low malic acid</a:t>
                      </a:r>
                    </a:p>
                  </a:txBody>
                  <a:tcPr marL="56575" marR="56575" marT="28287" marB="28287" anchor="ctr">
                    <a:solidFill>
                      <a:schemeClr val="bg1"/>
                    </a:solidFill>
                  </a:tcPr>
                </a:tc>
                <a:extLst>
                  <a:ext uri="{0D108BD9-81ED-4DB2-BD59-A6C34878D82A}">
                    <a16:rowId xmlns:a16="http://schemas.microsoft.com/office/drawing/2014/main" val="933697289"/>
                  </a:ext>
                </a:extLst>
              </a:tr>
              <a:tr h="459339">
                <a:tc>
                  <a:txBody>
                    <a:bodyPr/>
                    <a:lstStyle/>
                    <a:p>
                      <a:r>
                        <a:rPr lang="en-US" sz="2000"/>
                        <a:t>ash</a:t>
                      </a:r>
                    </a:p>
                  </a:txBody>
                  <a:tcPr marL="56575" marR="56575" marT="28287" marB="28287" anchor="ctr">
                    <a:solidFill>
                      <a:schemeClr val="bg1"/>
                    </a:solidFill>
                  </a:tcPr>
                </a:tc>
                <a:tc>
                  <a:txBody>
                    <a:bodyPr/>
                    <a:lstStyle/>
                    <a:p>
                      <a:r>
                        <a:rPr lang="en-US" sz="2000"/>
                        <a:t>Nearly normal</a:t>
                      </a:r>
                    </a:p>
                  </a:txBody>
                  <a:tcPr marL="56575" marR="56575" marT="28287" marB="28287" anchor="ctr">
                    <a:solidFill>
                      <a:schemeClr val="bg1"/>
                    </a:solidFill>
                  </a:tcPr>
                </a:tc>
                <a:tc>
                  <a:txBody>
                    <a:bodyPr/>
                    <a:lstStyle/>
                    <a:p>
                      <a:r>
                        <a:rPr lang="en-US" sz="2000"/>
                        <a:t>Centered around 2.5</a:t>
                      </a:r>
                    </a:p>
                  </a:txBody>
                  <a:tcPr marL="56575" marR="56575" marT="28287" marB="28287" anchor="ctr">
                    <a:solidFill>
                      <a:schemeClr val="bg1"/>
                    </a:solidFill>
                  </a:tcPr>
                </a:tc>
                <a:extLst>
                  <a:ext uri="{0D108BD9-81ED-4DB2-BD59-A6C34878D82A}">
                    <a16:rowId xmlns:a16="http://schemas.microsoft.com/office/drawing/2014/main" val="240337884"/>
                  </a:ext>
                </a:extLst>
              </a:tr>
              <a:tr h="459339">
                <a:tc>
                  <a:txBody>
                    <a:bodyPr/>
                    <a:lstStyle/>
                    <a:p>
                      <a:r>
                        <a:rPr lang="en-US" sz="2000"/>
                        <a:t>alcalinity_of_ash</a:t>
                      </a:r>
                    </a:p>
                  </a:txBody>
                  <a:tcPr marL="56575" marR="56575" marT="28287" marB="28287" anchor="ctr">
                    <a:solidFill>
                      <a:schemeClr val="bg1"/>
                    </a:solidFill>
                  </a:tcPr>
                </a:tc>
                <a:tc>
                  <a:txBody>
                    <a:bodyPr/>
                    <a:lstStyle/>
                    <a:p>
                      <a:r>
                        <a:rPr lang="en-US" sz="2000"/>
                        <a:t>Symmetric</a:t>
                      </a:r>
                    </a:p>
                  </a:txBody>
                  <a:tcPr marL="56575" marR="56575" marT="28287" marB="28287" anchor="ctr">
                    <a:solidFill>
                      <a:schemeClr val="bg1"/>
                    </a:solidFill>
                  </a:tcPr>
                </a:tc>
                <a:tc>
                  <a:txBody>
                    <a:bodyPr/>
                    <a:lstStyle/>
                    <a:p>
                      <a:r>
                        <a:rPr lang="en-US" sz="2000" dirty="0"/>
                        <a:t>Slight peak near 20</a:t>
                      </a:r>
                    </a:p>
                  </a:txBody>
                  <a:tcPr marL="56575" marR="56575" marT="28287" marB="28287" anchor="ctr">
                    <a:solidFill>
                      <a:schemeClr val="bg1"/>
                    </a:solidFill>
                  </a:tcPr>
                </a:tc>
                <a:extLst>
                  <a:ext uri="{0D108BD9-81ED-4DB2-BD59-A6C34878D82A}">
                    <a16:rowId xmlns:a16="http://schemas.microsoft.com/office/drawing/2014/main" val="615775913"/>
                  </a:ext>
                </a:extLst>
              </a:tr>
              <a:tr h="803844">
                <a:tc>
                  <a:txBody>
                    <a:bodyPr/>
                    <a:lstStyle/>
                    <a:p>
                      <a:r>
                        <a:rPr lang="en-US" sz="2000"/>
                        <a:t>magnesium</a:t>
                      </a:r>
                    </a:p>
                  </a:txBody>
                  <a:tcPr marL="56575" marR="56575" marT="28287" marB="28287" anchor="ctr">
                    <a:solidFill>
                      <a:schemeClr val="bg1"/>
                    </a:solidFill>
                  </a:tcPr>
                </a:tc>
                <a:tc>
                  <a:txBody>
                    <a:bodyPr/>
                    <a:lstStyle/>
                    <a:p>
                      <a:r>
                        <a:rPr lang="en-US" sz="2000"/>
                        <a:t>Right-skewed</a:t>
                      </a:r>
                    </a:p>
                  </a:txBody>
                  <a:tcPr marL="56575" marR="56575" marT="28287" marB="28287" anchor="ctr">
                    <a:solidFill>
                      <a:schemeClr val="bg1"/>
                    </a:solidFill>
                  </a:tcPr>
                </a:tc>
                <a:tc>
                  <a:txBody>
                    <a:bodyPr/>
                    <a:lstStyle/>
                    <a:p>
                      <a:r>
                        <a:rPr lang="en-US" sz="2000"/>
                        <a:t>Most values are between 70–100</a:t>
                      </a:r>
                    </a:p>
                  </a:txBody>
                  <a:tcPr marL="56575" marR="56575" marT="28287" marB="28287" anchor="ctr">
                    <a:solidFill>
                      <a:schemeClr val="bg1"/>
                    </a:solidFill>
                  </a:tcPr>
                </a:tc>
                <a:extLst>
                  <a:ext uri="{0D108BD9-81ED-4DB2-BD59-A6C34878D82A}">
                    <a16:rowId xmlns:a16="http://schemas.microsoft.com/office/drawing/2014/main" val="1391086576"/>
                  </a:ext>
                </a:extLst>
              </a:tr>
              <a:tr h="459339">
                <a:tc>
                  <a:txBody>
                    <a:bodyPr/>
                    <a:lstStyle/>
                    <a:p>
                      <a:r>
                        <a:rPr lang="en-US" sz="2000"/>
                        <a:t>total_phenols</a:t>
                      </a:r>
                    </a:p>
                  </a:txBody>
                  <a:tcPr marL="56575" marR="56575" marT="28287" marB="28287" anchor="ctr">
                    <a:solidFill>
                      <a:schemeClr val="bg1"/>
                    </a:solidFill>
                  </a:tcPr>
                </a:tc>
                <a:tc>
                  <a:txBody>
                    <a:bodyPr/>
                    <a:lstStyle/>
                    <a:p>
                      <a:r>
                        <a:rPr lang="en-US" sz="2000"/>
                        <a:t>Fairly uniform</a:t>
                      </a:r>
                    </a:p>
                  </a:txBody>
                  <a:tcPr marL="56575" marR="56575" marT="28287" marB="28287" anchor="ctr">
                    <a:solidFill>
                      <a:schemeClr val="bg1"/>
                    </a:solidFill>
                  </a:tcPr>
                </a:tc>
                <a:tc>
                  <a:txBody>
                    <a:bodyPr/>
                    <a:lstStyle/>
                    <a:p>
                      <a:r>
                        <a:rPr lang="en-US" sz="2000"/>
                        <a:t>Spread evenly from 1–3</a:t>
                      </a:r>
                    </a:p>
                  </a:txBody>
                  <a:tcPr marL="56575" marR="56575" marT="28287" marB="28287" anchor="ctr">
                    <a:solidFill>
                      <a:schemeClr val="bg1"/>
                    </a:solidFill>
                  </a:tcPr>
                </a:tc>
                <a:extLst>
                  <a:ext uri="{0D108BD9-81ED-4DB2-BD59-A6C34878D82A}">
                    <a16:rowId xmlns:a16="http://schemas.microsoft.com/office/drawing/2014/main" val="1453192372"/>
                  </a:ext>
                </a:extLst>
              </a:tr>
              <a:tr h="803844">
                <a:tc>
                  <a:txBody>
                    <a:bodyPr/>
                    <a:lstStyle/>
                    <a:p>
                      <a:r>
                        <a:rPr lang="en-US" sz="2000"/>
                        <a:t>flavonoids</a:t>
                      </a:r>
                    </a:p>
                  </a:txBody>
                  <a:tcPr marL="56575" marR="56575" marT="28287" marB="28287" anchor="ctr">
                    <a:solidFill>
                      <a:schemeClr val="bg1"/>
                    </a:solidFill>
                  </a:tcPr>
                </a:tc>
                <a:tc>
                  <a:txBody>
                    <a:bodyPr/>
                    <a:lstStyle/>
                    <a:p>
                      <a:r>
                        <a:rPr lang="en-US" sz="2000"/>
                        <a:t>Right-skewed</a:t>
                      </a:r>
                    </a:p>
                  </a:txBody>
                  <a:tcPr marL="56575" marR="56575" marT="28287" marB="28287" anchor="ctr">
                    <a:solidFill>
                      <a:schemeClr val="bg1"/>
                    </a:solidFill>
                  </a:tcPr>
                </a:tc>
                <a:tc>
                  <a:txBody>
                    <a:bodyPr/>
                    <a:lstStyle/>
                    <a:p>
                      <a:r>
                        <a:rPr lang="en-US" sz="2000"/>
                        <a:t>Many wines with low values</a:t>
                      </a:r>
                    </a:p>
                  </a:txBody>
                  <a:tcPr marL="56575" marR="56575" marT="28287" marB="28287" anchor="ctr">
                    <a:solidFill>
                      <a:schemeClr val="bg1"/>
                    </a:solidFill>
                  </a:tcPr>
                </a:tc>
                <a:extLst>
                  <a:ext uri="{0D108BD9-81ED-4DB2-BD59-A6C34878D82A}">
                    <a16:rowId xmlns:a16="http://schemas.microsoft.com/office/drawing/2014/main" val="2339081570"/>
                  </a:ext>
                </a:extLst>
              </a:tr>
              <a:tr h="803844">
                <a:tc>
                  <a:txBody>
                    <a:bodyPr/>
                    <a:lstStyle/>
                    <a:p>
                      <a:r>
                        <a:rPr lang="en-US" sz="2000"/>
                        <a:t>nonflavanoid_phenols</a:t>
                      </a:r>
                    </a:p>
                  </a:txBody>
                  <a:tcPr marL="56575" marR="56575" marT="28287" marB="28287" anchor="ctr">
                    <a:solidFill>
                      <a:schemeClr val="bg1"/>
                    </a:solidFill>
                  </a:tcPr>
                </a:tc>
                <a:tc>
                  <a:txBody>
                    <a:bodyPr/>
                    <a:lstStyle/>
                    <a:p>
                      <a:r>
                        <a:rPr lang="en-US" sz="2000"/>
                        <a:t>Right-skewed</a:t>
                      </a:r>
                    </a:p>
                  </a:txBody>
                  <a:tcPr marL="56575" marR="56575" marT="28287" marB="28287" anchor="ctr">
                    <a:solidFill>
                      <a:schemeClr val="bg1"/>
                    </a:solidFill>
                  </a:tcPr>
                </a:tc>
                <a:tc>
                  <a:txBody>
                    <a:bodyPr/>
                    <a:lstStyle/>
                    <a:p>
                      <a:r>
                        <a:rPr lang="en-US" sz="2000"/>
                        <a:t>Similar pattern to flavonoids</a:t>
                      </a:r>
                    </a:p>
                  </a:txBody>
                  <a:tcPr marL="56575" marR="56575" marT="28287" marB="28287" anchor="ctr">
                    <a:solidFill>
                      <a:schemeClr val="bg1"/>
                    </a:solidFill>
                  </a:tcPr>
                </a:tc>
                <a:extLst>
                  <a:ext uri="{0D108BD9-81ED-4DB2-BD59-A6C34878D82A}">
                    <a16:rowId xmlns:a16="http://schemas.microsoft.com/office/drawing/2014/main" val="4241078019"/>
                  </a:ext>
                </a:extLst>
              </a:tr>
              <a:tr h="459339">
                <a:tc>
                  <a:txBody>
                    <a:bodyPr/>
                    <a:lstStyle/>
                    <a:p>
                      <a:r>
                        <a:rPr lang="en-US" sz="2000"/>
                        <a:t>proanthocyanins</a:t>
                      </a:r>
                    </a:p>
                  </a:txBody>
                  <a:tcPr marL="56575" marR="56575" marT="28287" marB="28287" anchor="ctr">
                    <a:solidFill>
                      <a:schemeClr val="bg1"/>
                    </a:solidFill>
                  </a:tcPr>
                </a:tc>
                <a:tc>
                  <a:txBody>
                    <a:bodyPr/>
                    <a:lstStyle/>
                    <a:p>
                      <a:r>
                        <a:rPr lang="en-US" sz="2000"/>
                        <a:t>Normal-like</a:t>
                      </a:r>
                    </a:p>
                  </a:txBody>
                  <a:tcPr marL="56575" marR="56575" marT="28287" marB="28287" anchor="ctr">
                    <a:solidFill>
                      <a:schemeClr val="bg1"/>
                    </a:solidFill>
                  </a:tcPr>
                </a:tc>
                <a:tc>
                  <a:txBody>
                    <a:bodyPr/>
                    <a:lstStyle/>
                    <a:p>
                      <a:r>
                        <a:rPr lang="en-US" sz="2000"/>
                        <a:t>Balanced spread</a:t>
                      </a:r>
                    </a:p>
                  </a:txBody>
                  <a:tcPr marL="56575" marR="56575" marT="28287" marB="28287" anchor="ctr">
                    <a:solidFill>
                      <a:schemeClr val="bg1"/>
                    </a:solidFill>
                  </a:tcPr>
                </a:tc>
                <a:extLst>
                  <a:ext uri="{0D108BD9-81ED-4DB2-BD59-A6C34878D82A}">
                    <a16:rowId xmlns:a16="http://schemas.microsoft.com/office/drawing/2014/main" val="2878931040"/>
                  </a:ext>
                </a:extLst>
              </a:tr>
              <a:tr h="803844">
                <a:tc>
                  <a:txBody>
                    <a:bodyPr/>
                    <a:lstStyle/>
                    <a:p>
                      <a:r>
                        <a:rPr lang="en-US" sz="2000"/>
                        <a:t>color_intensity</a:t>
                      </a:r>
                    </a:p>
                  </a:txBody>
                  <a:tcPr marL="56575" marR="56575" marT="28287" marB="28287" anchor="ctr">
                    <a:solidFill>
                      <a:schemeClr val="bg1"/>
                    </a:solidFill>
                  </a:tcPr>
                </a:tc>
                <a:tc>
                  <a:txBody>
                    <a:bodyPr/>
                    <a:lstStyle/>
                    <a:p>
                      <a:r>
                        <a:rPr lang="en-US" sz="2000"/>
                        <a:t>Right-skewed</a:t>
                      </a:r>
                    </a:p>
                  </a:txBody>
                  <a:tcPr marL="56575" marR="56575" marT="28287" marB="28287" anchor="ctr">
                    <a:solidFill>
                      <a:schemeClr val="bg1"/>
                    </a:solidFill>
                  </a:tcPr>
                </a:tc>
                <a:tc>
                  <a:txBody>
                    <a:bodyPr/>
                    <a:lstStyle/>
                    <a:p>
                      <a:r>
                        <a:rPr lang="en-US" sz="2000"/>
                        <a:t>Few very intense-colored wines</a:t>
                      </a:r>
                    </a:p>
                  </a:txBody>
                  <a:tcPr marL="56575" marR="56575" marT="28287" marB="28287" anchor="ctr">
                    <a:solidFill>
                      <a:schemeClr val="bg1"/>
                    </a:solidFill>
                  </a:tcPr>
                </a:tc>
                <a:extLst>
                  <a:ext uri="{0D108BD9-81ED-4DB2-BD59-A6C34878D82A}">
                    <a16:rowId xmlns:a16="http://schemas.microsoft.com/office/drawing/2014/main" val="2361041580"/>
                  </a:ext>
                </a:extLst>
              </a:tr>
              <a:tr h="459339">
                <a:tc>
                  <a:txBody>
                    <a:bodyPr/>
                    <a:lstStyle/>
                    <a:p>
                      <a:r>
                        <a:rPr lang="en-US" sz="2000"/>
                        <a:t>hue</a:t>
                      </a:r>
                    </a:p>
                  </a:txBody>
                  <a:tcPr marL="56575" marR="56575" marT="28287" marB="28287" anchor="ctr">
                    <a:solidFill>
                      <a:schemeClr val="bg1"/>
                    </a:solidFill>
                  </a:tcPr>
                </a:tc>
                <a:tc>
                  <a:txBody>
                    <a:bodyPr/>
                    <a:lstStyle/>
                    <a:p>
                      <a:r>
                        <a:rPr lang="en-US" sz="2000"/>
                        <a:t>Bell-shaped</a:t>
                      </a:r>
                    </a:p>
                  </a:txBody>
                  <a:tcPr marL="56575" marR="56575" marT="28287" marB="28287" anchor="ctr">
                    <a:solidFill>
                      <a:schemeClr val="bg1"/>
                    </a:solidFill>
                  </a:tcPr>
                </a:tc>
                <a:tc>
                  <a:txBody>
                    <a:bodyPr/>
                    <a:lstStyle/>
                    <a:p>
                      <a:r>
                        <a:rPr lang="en-US" sz="2000"/>
                        <a:t>Typical range 0.8–1.2</a:t>
                      </a:r>
                    </a:p>
                  </a:txBody>
                  <a:tcPr marL="56575" marR="56575" marT="28287" marB="28287" anchor="ctr">
                    <a:solidFill>
                      <a:schemeClr val="bg1"/>
                    </a:solidFill>
                  </a:tcPr>
                </a:tc>
                <a:extLst>
                  <a:ext uri="{0D108BD9-81ED-4DB2-BD59-A6C34878D82A}">
                    <a16:rowId xmlns:a16="http://schemas.microsoft.com/office/drawing/2014/main" val="1230376922"/>
                  </a:ext>
                </a:extLst>
              </a:tr>
              <a:tr h="803844">
                <a:tc>
                  <a:txBody>
                    <a:bodyPr/>
                    <a:lstStyle/>
                    <a:p>
                      <a:r>
                        <a:rPr lang="en-US" sz="2000"/>
                        <a:t>od280/od315_of_diluted_wines</a:t>
                      </a:r>
                    </a:p>
                  </a:txBody>
                  <a:tcPr marL="56575" marR="56575" marT="28287" marB="28287" anchor="ctr">
                    <a:solidFill>
                      <a:schemeClr val="bg1"/>
                    </a:solidFill>
                  </a:tcPr>
                </a:tc>
                <a:tc>
                  <a:txBody>
                    <a:bodyPr/>
                    <a:lstStyle/>
                    <a:p>
                      <a:r>
                        <a:rPr lang="en-US" sz="2000"/>
                        <a:t>Bimodal</a:t>
                      </a:r>
                    </a:p>
                  </a:txBody>
                  <a:tcPr marL="56575" marR="56575" marT="28287" marB="28287" anchor="ctr">
                    <a:solidFill>
                      <a:schemeClr val="bg1"/>
                    </a:solidFill>
                  </a:tcPr>
                </a:tc>
                <a:tc>
                  <a:txBody>
                    <a:bodyPr/>
                    <a:lstStyle/>
                    <a:p>
                      <a:r>
                        <a:rPr lang="en-US" sz="2000"/>
                        <a:t>Two common groups of wines</a:t>
                      </a:r>
                    </a:p>
                  </a:txBody>
                  <a:tcPr marL="56575" marR="56575" marT="28287" marB="28287" anchor="ctr">
                    <a:solidFill>
                      <a:schemeClr val="bg1"/>
                    </a:solidFill>
                  </a:tcPr>
                </a:tc>
                <a:extLst>
                  <a:ext uri="{0D108BD9-81ED-4DB2-BD59-A6C34878D82A}">
                    <a16:rowId xmlns:a16="http://schemas.microsoft.com/office/drawing/2014/main" val="1914625334"/>
                  </a:ext>
                </a:extLst>
              </a:tr>
              <a:tr h="803844">
                <a:tc>
                  <a:txBody>
                    <a:bodyPr/>
                    <a:lstStyle/>
                    <a:p>
                      <a:r>
                        <a:rPr lang="en-US" sz="2000"/>
                        <a:t>proline</a:t>
                      </a:r>
                    </a:p>
                  </a:txBody>
                  <a:tcPr marL="56575" marR="56575" marT="28287" marB="28287" anchor="ctr">
                    <a:solidFill>
                      <a:schemeClr val="bg1"/>
                    </a:solidFill>
                  </a:tcPr>
                </a:tc>
                <a:tc>
                  <a:txBody>
                    <a:bodyPr/>
                    <a:lstStyle/>
                    <a:p>
                      <a:r>
                        <a:rPr lang="en-US" sz="2000"/>
                        <a:t>Strongly right-skewed</a:t>
                      </a:r>
                    </a:p>
                  </a:txBody>
                  <a:tcPr marL="56575" marR="56575" marT="28287" marB="28287" anchor="ctr">
                    <a:solidFill>
                      <a:schemeClr val="bg1"/>
                    </a:solidFill>
                  </a:tcPr>
                </a:tc>
                <a:tc>
                  <a:txBody>
                    <a:bodyPr/>
                    <a:lstStyle/>
                    <a:p>
                      <a:r>
                        <a:rPr lang="en-US" sz="2000" dirty="0"/>
                        <a:t>Few wines have very high proline</a:t>
                      </a:r>
                    </a:p>
                  </a:txBody>
                  <a:tcPr marL="56575" marR="56575" marT="28287" marB="28287" anchor="ctr">
                    <a:solidFill>
                      <a:schemeClr val="bg1"/>
                    </a:solidFill>
                  </a:tcPr>
                </a:tc>
                <a:extLst>
                  <a:ext uri="{0D108BD9-81ED-4DB2-BD59-A6C34878D82A}">
                    <a16:rowId xmlns:a16="http://schemas.microsoft.com/office/drawing/2014/main" val="2090544797"/>
                  </a:ext>
                </a:extLst>
              </a:tr>
            </a:tbl>
          </a:graphicData>
        </a:graphic>
      </p:graphicFrame>
    </p:spTree>
    <p:extLst>
      <p:ext uri="{BB962C8B-B14F-4D97-AF65-F5344CB8AC3E}">
        <p14:creationId xmlns:p14="http://schemas.microsoft.com/office/powerpoint/2010/main" val="3864211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3" name="Freeform 3"/>
          <p:cNvSpPr/>
          <p:nvPr/>
        </p:nvSpPr>
        <p:spPr>
          <a:xfrm>
            <a:off x="9365226" y="1374491"/>
            <a:ext cx="8568457" cy="6812716"/>
          </a:xfrm>
          <a:custGeom>
            <a:avLst/>
            <a:gdLst/>
            <a:ahLst/>
            <a:cxnLst/>
            <a:rect l="l" t="t" r="r" b="b"/>
            <a:pathLst>
              <a:path w="8568457" h="6812716">
                <a:moveTo>
                  <a:pt x="0" y="0"/>
                </a:moveTo>
                <a:lnTo>
                  <a:pt x="8568457" y="0"/>
                </a:lnTo>
                <a:lnTo>
                  <a:pt x="8568457" y="6812716"/>
                </a:lnTo>
                <a:lnTo>
                  <a:pt x="0" y="6812716"/>
                </a:lnTo>
                <a:lnTo>
                  <a:pt x="0" y="0"/>
                </a:lnTo>
                <a:close/>
              </a:path>
            </a:pathLst>
          </a:custGeom>
          <a:blipFill>
            <a:blip r:embed="rId2"/>
            <a:stretch>
              <a:fillRect l="-1106" t="-4078" r="-1106"/>
            </a:stretch>
          </a:blipFill>
        </p:spPr>
      </p:sp>
      <p:sp>
        <p:nvSpPr>
          <p:cNvPr id="4" name="TextBox 4"/>
          <p:cNvSpPr txBox="1"/>
          <p:nvPr/>
        </p:nvSpPr>
        <p:spPr>
          <a:xfrm>
            <a:off x="0" y="452944"/>
            <a:ext cx="9671518" cy="1957395"/>
          </a:xfrm>
          <a:prstGeom prst="rect">
            <a:avLst/>
          </a:prstGeom>
        </p:spPr>
        <p:txBody>
          <a:bodyPr lIns="0" tIns="0" rIns="0" bIns="0" rtlCol="0" anchor="t">
            <a:spAutoFit/>
          </a:bodyPr>
          <a:lstStyle/>
          <a:p>
            <a:pPr algn="l">
              <a:lnSpc>
                <a:spcPts val="7267"/>
              </a:lnSpc>
            </a:pPr>
            <a:r>
              <a:rPr lang="en-US" sz="7650" b="1" spc="-321">
                <a:solidFill>
                  <a:srgbClr val="F4F4F4"/>
                </a:solidFill>
                <a:latin typeface="Poppins Medium"/>
                <a:ea typeface="Poppins Medium"/>
                <a:cs typeface="Poppins Medium"/>
                <a:sym typeface="Poppins Medium"/>
              </a:rPr>
              <a:t>Wine Type</a:t>
            </a:r>
          </a:p>
          <a:p>
            <a:pPr algn="l">
              <a:lnSpc>
                <a:spcPts val="7267"/>
              </a:lnSpc>
            </a:pPr>
            <a:r>
              <a:rPr lang="en-US" sz="7650" b="1" spc="-321">
                <a:solidFill>
                  <a:srgbClr val="F4F4F4"/>
                </a:solidFill>
                <a:latin typeface="Poppins Medium"/>
                <a:ea typeface="Poppins Medium"/>
                <a:cs typeface="Poppins Medium"/>
                <a:sym typeface="Poppins Medium"/>
              </a:rPr>
              <a:t>Distribution Analysis</a:t>
            </a:r>
          </a:p>
        </p:txBody>
      </p:sp>
      <p:sp>
        <p:nvSpPr>
          <p:cNvPr id="5" name="TextBox 5"/>
          <p:cNvSpPr txBox="1"/>
          <p:nvPr/>
        </p:nvSpPr>
        <p:spPr>
          <a:xfrm>
            <a:off x="274423" y="3024195"/>
            <a:ext cx="8646037" cy="7436308"/>
          </a:xfrm>
          <a:prstGeom prst="rect">
            <a:avLst/>
          </a:prstGeom>
        </p:spPr>
        <p:txBody>
          <a:bodyPr lIns="0" tIns="0" rIns="0" bIns="0" rtlCol="0" anchor="t">
            <a:spAutoFit/>
          </a:bodyPr>
          <a:lstStyle/>
          <a:p>
            <a:pPr algn="l">
              <a:lnSpc>
                <a:spcPts val="4034"/>
              </a:lnSpc>
            </a:pPr>
            <a:r>
              <a:rPr lang="en-US" sz="2881" b="1" spc="-121">
                <a:solidFill>
                  <a:srgbClr val="FFFFFF"/>
                </a:solidFill>
                <a:latin typeface="Poppins Bold"/>
                <a:ea typeface="Poppins Bold"/>
                <a:cs typeface="Poppins Bold"/>
                <a:sym typeface="Poppins Bold"/>
              </a:rPr>
              <a:t>Wine Type Distribution – Analysis</a:t>
            </a:r>
          </a:p>
          <a:p>
            <a:pPr marL="557448" lvl="1" indent="-278724" algn="l">
              <a:lnSpc>
                <a:spcPts val="3614"/>
              </a:lnSpc>
              <a:buFont typeface="Arial"/>
              <a:buChar char="•"/>
            </a:pPr>
            <a:r>
              <a:rPr lang="en-US" sz="2581" spc="-108">
                <a:solidFill>
                  <a:srgbClr val="F4F4F4"/>
                </a:solidFill>
                <a:latin typeface="Poppins"/>
                <a:ea typeface="Poppins"/>
                <a:cs typeface="Poppins"/>
                <a:sym typeface="Poppins"/>
              </a:rPr>
              <a:t>The dataset contains three wine types, labeled as 0, 1, and 2.</a:t>
            </a:r>
          </a:p>
          <a:p>
            <a:pPr marL="557448" lvl="1" indent="-278724" algn="l">
              <a:lnSpc>
                <a:spcPts val="3614"/>
              </a:lnSpc>
              <a:buFont typeface="Arial"/>
              <a:buChar char="•"/>
            </a:pPr>
            <a:r>
              <a:rPr lang="en-US" sz="2581" spc="-108">
                <a:solidFill>
                  <a:srgbClr val="F4F4F4"/>
                </a:solidFill>
                <a:latin typeface="Poppins"/>
                <a:ea typeface="Poppins"/>
                <a:cs typeface="Poppins"/>
                <a:sym typeface="Poppins"/>
              </a:rPr>
              <a:t>Wine Type 1 is the most represented, with approximately 71 entries.</a:t>
            </a:r>
          </a:p>
          <a:p>
            <a:pPr marL="557448" lvl="1" indent="-278724" algn="l">
              <a:lnSpc>
                <a:spcPts val="3614"/>
              </a:lnSpc>
              <a:buFont typeface="Arial"/>
              <a:buChar char="•"/>
            </a:pPr>
            <a:r>
              <a:rPr lang="en-US" sz="2581" spc="-108">
                <a:solidFill>
                  <a:srgbClr val="F4F4F4"/>
                </a:solidFill>
                <a:latin typeface="Poppins"/>
                <a:ea typeface="Poppins"/>
                <a:cs typeface="Poppins"/>
                <a:sym typeface="Poppins"/>
              </a:rPr>
              <a:t>Wine Type 0 follows with about 59 entries.</a:t>
            </a:r>
          </a:p>
          <a:p>
            <a:pPr marL="557448" lvl="1" indent="-278724" algn="l">
              <a:lnSpc>
                <a:spcPts val="3614"/>
              </a:lnSpc>
              <a:buFont typeface="Arial"/>
              <a:buChar char="•"/>
            </a:pPr>
            <a:r>
              <a:rPr lang="en-US" sz="2581" spc="-108">
                <a:solidFill>
                  <a:srgbClr val="F4F4F4"/>
                </a:solidFill>
                <a:latin typeface="Poppins"/>
                <a:ea typeface="Poppins"/>
                <a:cs typeface="Poppins"/>
                <a:sym typeface="Poppins"/>
              </a:rPr>
              <a:t>Wine Type 2 has the lowest representation, with around 48 entries.</a:t>
            </a:r>
          </a:p>
          <a:p>
            <a:pPr algn="l">
              <a:lnSpc>
                <a:spcPts val="4174"/>
              </a:lnSpc>
            </a:pPr>
            <a:r>
              <a:rPr lang="en-US" sz="2981" b="1" spc="-125">
                <a:solidFill>
                  <a:srgbClr val="F4F4F4"/>
                </a:solidFill>
                <a:latin typeface="Poppins Bold"/>
                <a:ea typeface="Poppins Bold"/>
                <a:cs typeface="Poppins Bold"/>
                <a:sym typeface="Poppins Bold"/>
              </a:rPr>
              <a:t>  Observations:</a:t>
            </a:r>
          </a:p>
          <a:p>
            <a:pPr marL="557448" lvl="1" indent="-278724" algn="l">
              <a:lnSpc>
                <a:spcPts val="3614"/>
              </a:lnSpc>
              <a:buFont typeface="Arial"/>
              <a:buChar char="•"/>
            </a:pPr>
            <a:r>
              <a:rPr lang="en-US" sz="2581" spc="-108">
                <a:solidFill>
                  <a:srgbClr val="F4F4F4"/>
                </a:solidFill>
                <a:latin typeface="Poppins"/>
                <a:ea typeface="Poppins"/>
                <a:cs typeface="Poppins"/>
                <a:sym typeface="Poppins"/>
              </a:rPr>
              <a:t>The data is relatively balanced, though Wine Type 1 has a noticeable lead.</a:t>
            </a:r>
          </a:p>
          <a:p>
            <a:pPr marL="557448" lvl="1" indent="-278724" algn="l">
              <a:lnSpc>
                <a:spcPts val="3614"/>
              </a:lnSpc>
              <a:buFont typeface="Arial"/>
              <a:buChar char="•"/>
            </a:pPr>
            <a:r>
              <a:rPr lang="en-US" sz="2581" spc="-108">
                <a:solidFill>
                  <a:srgbClr val="F4F4F4"/>
                </a:solidFill>
                <a:latin typeface="Poppins"/>
                <a:ea typeface="Poppins"/>
                <a:cs typeface="Poppins"/>
                <a:sym typeface="Poppins"/>
              </a:rPr>
              <a:t>The class imbalance is not extreme, but it's something to be aware of when training classification models, as it could slightly influence performance metrics.</a:t>
            </a:r>
          </a:p>
          <a:p>
            <a:pPr algn="l">
              <a:lnSpc>
                <a:spcPts val="3614"/>
              </a:lnSpc>
              <a:spcBef>
                <a:spcPct val="0"/>
              </a:spcBef>
            </a:pPr>
            <a:endParaRPr lang="en-US" sz="2581" spc="-108">
              <a:solidFill>
                <a:srgbClr val="F4F4F4"/>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8769423" y="1157295"/>
            <a:ext cx="8993546" cy="8656882"/>
          </a:xfrm>
          <a:custGeom>
            <a:avLst/>
            <a:gdLst/>
            <a:ahLst/>
            <a:cxnLst/>
            <a:rect l="l" t="t" r="r" b="b"/>
            <a:pathLst>
              <a:path w="8993546" h="8656882">
                <a:moveTo>
                  <a:pt x="0" y="0"/>
                </a:moveTo>
                <a:lnTo>
                  <a:pt x="8993545" y="0"/>
                </a:lnTo>
                <a:lnTo>
                  <a:pt x="8993545" y="8656881"/>
                </a:lnTo>
                <a:lnTo>
                  <a:pt x="0" y="8656881"/>
                </a:lnTo>
                <a:lnTo>
                  <a:pt x="0" y="0"/>
                </a:lnTo>
                <a:close/>
              </a:path>
            </a:pathLst>
          </a:custGeom>
          <a:blipFill>
            <a:blip r:embed="rId2"/>
            <a:stretch>
              <a:fillRect l="-11407" r="-11407"/>
            </a:stretch>
          </a:blipFill>
        </p:spPr>
      </p:sp>
      <p:sp>
        <p:nvSpPr>
          <p:cNvPr id="3" name="TextBox 3"/>
          <p:cNvSpPr txBox="1"/>
          <p:nvPr/>
        </p:nvSpPr>
        <p:spPr>
          <a:xfrm>
            <a:off x="123386" y="114300"/>
            <a:ext cx="18041228" cy="1042995"/>
          </a:xfrm>
          <a:prstGeom prst="rect">
            <a:avLst/>
          </a:prstGeom>
        </p:spPr>
        <p:txBody>
          <a:bodyPr lIns="0" tIns="0" rIns="0" bIns="0" rtlCol="0" anchor="t">
            <a:spAutoFit/>
          </a:bodyPr>
          <a:lstStyle/>
          <a:p>
            <a:pPr algn="l">
              <a:lnSpc>
                <a:spcPts val="7267"/>
              </a:lnSpc>
            </a:pPr>
            <a:r>
              <a:rPr lang="en-US" sz="7650" b="1" spc="-321">
                <a:solidFill>
                  <a:srgbClr val="F4F4F4"/>
                </a:solidFill>
                <a:latin typeface="Poppins Medium"/>
                <a:ea typeface="Poppins Medium"/>
                <a:cs typeface="Poppins Medium"/>
                <a:sym typeface="Poppins Medium"/>
              </a:rPr>
              <a:t>Key Insights from Feature Correlations</a:t>
            </a:r>
          </a:p>
        </p:txBody>
      </p:sp>
      <p:sp>
        <p:nvSpPr>
          <p:cNvPr id="4" name="TextBox 4"/>
          <p:cNvSpPr txBox="1"/>
          <p:nvPr/>
        </p:nvSpPr>
        <p:spPr>
          <a:xfrm>
            <a:off x="123386" y="1081095"/>
            <a:ext cx="8646037" cy="9550858"/>
          </a:xfrm>
          <a:prstGeom prst="rect">
            <a:avLst/>
          </a:prstGeom>
        </p:spPr>
        <p:txBody>
          <a:bodyPr lIns="0" tIns="0" rIns="0" bIns="0" rtlCol="0" anchor="t">
            <a:spAutoFit/>
          </a:bodyPr>
          <a:lstStyle/>
          <a:p>
            <a:pPr algn="l">
              <a:lnSpc>
                <a:spcPts val="4034"/>
              </a:lnSpc>
            </a:pPr>
            <a:r>
              <a:rPr lang="en-US" sz="2881" b="1" spc="-121">
                <a:solidFill>
                  <a:srgbClr val="FFFFFF"/>
                </a:solidFill>
                <a:latin typeface="Poppins Bold"/>
                <a:ea typeface="Poppins Bold"/>
                <a:cs typeface="Poppins Bold"/>
                <a:sym typeface="Poppins Bold"/>
              </a:rPr>
              <a:t>The heatmap reveals that flavanoids, total phenols, and OD280/OD315 are highly correlated, suggesting they may represent similar underlying wine characteristics—likely related to antioxidant or polyphenol content. This can help in reducing dimensionality or selecting the most informative feature during model building.</a:t>
            </a:r>
          </a:p>
          <a:p>
            <a:pPr algn="l">
              <a:lnSpc>
                <a:spcPts val="4034"/>
              </a:lnSpc>
            </a:pPr>
            <a:r>
              <a:rPr lang="en-US" sz="2881" b="1" spc="-121">
                <a:solidFill>
                  <a:srgbClr val="FFFFFF"/>
                </a:solidFill>
                <a:latin typeface="Poppins Bold"/>
                <a:ea typeface="Poppins Bold"/>
                <a:cs typeface="Poppins Bold"/>
                <a:sym typeface="Poppins Bold"/>
              </a:rPr>
              <a:t>Additionally, the strong negative correlation between malic acid and hue highlights a possible link between wine acidity and color tint, which could reflect quality or type.</a:t>
            </a:r>
          </a:p>
          <a:p>
            <a:pPr algn="l">
              <a:lnSpc>
                <a:spcPts val="4034"/>
              </a:lnSpc>
            </a:pPr>
            <a:r>
              <a:rPr lang="en-US" sz="2881" b="1" spc="-121">
                <a:solidFill>
                  <a:srgbClr val="FFFFFF"/>
                </a:solidFill>
                <a:latin typeface="Poppins Bold"/>
                <a:ea typeface="Poppins Bold"/>
                <a:cs typeface="Poppins Bold"/>
                <a:sym typeface="Poppins Bold"/>
              </a:rPr>
              <a:t>Understanding these relationships aids in:</a:t>
            </a:r>
          </a:p>
          <a:p>
            <a:pPr marL="622216" lvl="1" indent="-311108" algn="l">
              <a:lnSpc>
                <a:spcPts val="4034"/>
              </a:lnSpc>
              <a:buFont typeface="Arial"/>
              <a:buChar char="•"/>
            </a:pPr>
            <a:r>
              <a:rPr lang="en-US" sz="2881" b="1" spc="-121">
                <a:solidFill>
                  <a:srgbClr val="FFFFFF"/>
                </a:solidFill>
                <a:latin typeface="Poppins Bold"/>
                <a:ea typeface="Poppins Bold"/>
                <a:cs typeface="Poppins Bold"/>
                <a:sym typeface="Poppins Bold"/>
              </a:rPr>
              <a:t>Improving model accuracy by avoiding redundant features,</a:t>
            </a:r>
          </a:p>
          <a:p>
            <a:pPr marL="622216" lvl="1" indent="-311108" algn="l">
              <a:lnSpc>
                <a:spcPts val="4034"/>
              </a:lnSpc>
              <a:buFont typeface="Arial"/>
              <a:buChar char="•"/>
            </a:pPr>
            <a:r>
              <a:rPr lang="en-US" sz="2881" b="1" spc="-121">
                <a:solidFill>
                  <a:srgbClr val="FFFFFF"/>
                </a:solidFill>
                <a:latin typeface="Poppins Bold"/>
                <a:ea typeface="Poppins Bold"/>
                <a:cs typeface="Poppins Bold"/>
                <a:sym typeface="Poppins Bold"/>
              </a:rPr>
              <a:t>Interpreting chemical composition linked to wine quality,</a:t>
            </a:r>
          </a:p>
          <a:p>
            <a:pPr marL="622216" lvl="1" indent="-311108" algn="l">
              <a:lnSpc>
                <a:spcPts val="4034"/>
              </a:lnSpc>
              <a:buFont typeface="Arial"/>
              <a:buChar char="•"/>
            </a:pPr>
            <a:r>
              <a:rPr lang="en-US" sz="2881" b="1" spc="-121">
                <a:solidFill>
                  <a:srgbClr val="FFFFFF"/>
                </a:solidFill>
                <a:latin typeface="Poppins Bold"/>
                <a:ea typeface="Poppins Bold"/>
                <a:cs typeface="Poppins Bold"/>
                <a:sym typeface="Poppins Bold"/>
              </a:rPr>
              <a:t>And enhancing feature selection for classification or prediction tasks.</a:t>
            </a:r>
          </a:p>
          <a:p>
            <a:pPr algn="l">
              <a:lnSpc>
                <a:spcPts val="3614"/>
              </a:lnSpc>
              <a:spcBef>
                <a:spcPct val="0"/>
              </a:spcBef>
            </a:pPr>
            <a:endParaRPr lang="en-US" sz="2881" b="1" spc="-121">
              <a:solidFill>
                <a:srgbClr val="FFFFFF"/>
              </a:solidFill>
              <a:latin typeface="Poppins Bold"/>
              <a:ea typeface="Poppins Bold"/>
              <a:cs typeface="Poppins Bold"/>
              <a:sym typeface="Poppins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5143500"/>
            <a:ext cx="18288000" cy="0"/>
          </a:xfrm>
          <a:prstGeom prst="line">
            <a:avLst/>
          </a:prstGeom>
          <a:ln w="9525" cap="rnd">
            <a:solidFill>
              <a:srgbClr val="F4F4F4"/>
            </a:solidFill>
            <a:prstDash val="solid"/>
            <a:headEnd type="none" w="sm" len="sm"/>
            <a:tailEnd type="none" w="sm" len="sm"/>
          </a:ln>
        </p:spPr>
      </p:sp>
      <p:sp>
        <p:nvSpPr>
          <p:cNvPr id="3" name="Freeform 3"/>
          <p:cNvSpPr/>
          <p:nvPr/>
        </p:nvSpPr>
        <p:spPr>
          <a:xfrm>
            <a:off x="43593" y="2525192"/>
            <a:ext cx="9329498" cy="7376534"/>
          </a:xfrm>
          <a:custGeom>
            <a:avLst/>
            <a:gdLst/>
            <a:ahLst/>
            <a:cxnLst/>
            <a:rect l="l" t="t" r="r" b="b"/>
            <a:pathLst>
              <a:path w="9329498" h="7376534">
                <a:moveTo>
                  <a:pt x="0" y="0"/>
                </a:moveTo>
                <a:lnTo>
                  <a:pt x="9329497" y="0"/>
                </a:lnTo>
                <a:lnTo>
                  <a:pt x="9329497" y="7376534"/>
                </a:lnTo>
                <a:lnTo>
                  <a:pt x="0" y="7376534"/>
                </a:lnTo>
                <a:lnTo>
                  <a:pt x="0" y="0"/>
                </a:lnTo>
                <a:close/>
              </a:path>
            </a:pathLst>
          </a:custGeom>
          <a:blipFill>
            <a:blip r:embed="rId2"/>
            <a:stretch>
              <a:fillRect l="-1530" r="-2445" b="-1499"/>
            </a:stretch>
          </a:blipFill>
        </p:spPr>
      </p:sp>
      <p:sp>
        <p:nvSpPr>
          <p:cNvPr id="4" name="TextBox 4"/>
          <p:cNvSpPr txBox="1"/>
          <p:nvPr/>
        </p:nvSpPr>
        <p:spPr>
          <a:xfrm>
            <a:off x="0" y="452944"/>
            <a:ext cx="18288000" cy="1030295"/>
          </a:xfrm>
          <a:prstGeom prst="rect">
            <a:avLst/>
          </a:prstGeom>
        </p:spPr>
        <p:txBody>
          <a:bodyPr lIns="0" tIns="0" rIns="0" bIns="0" rtlCol="0" anchor="t">
            <a:spAutoFit/>
          </a:bodyPr>
          <a:lstStyle/>
          <a:p>
            <a:pPr algn="l">
              <a:lnSpc>
                <a:spcPts val="7172"/>
              </a:lnSpc>
            </a:pPr>
            <a:r>
              <a:rPr lang="en-US" sz="7550" b="1" spc="-317">
                <a:solidFill>
                  <a:srgbClr val="F4F4F4"/>
                </a:solidFill>
                <a:latin typeface="Poppins Medium"/>
                <a:ea typeface="Poppins Medium"/>
                <a:cs typeface="Poppins Medium"/>
                <a:sym typeface="Poppins Medium"/>
              </a:rPr>
              <a:t>Flavanoids vs. Total Phenols Relationship</a:t>
            </a:r>
          </a:p>
        </p:txBody>
      </p:sp>
      <p:sp>
        <p:nvSpPr>
          <p:cNvPr id="5" name="TextBox 5"/>
          <p:cNvSpPr txBox="1"/>
          <p:nvPr/>
        </p:nvSpPr>
        <p:spPr>
          <a:xfrm>
            <a:off x="9641963" y="2002937"/>
            <a:ext cx="8646037" cy="8541208"/>
          </a:xfrm>
          <a:prstGeom prst="rect">
            <a:avLst/>
          </a:prstGeom>
        </p:spPr>
        <p:txBody>
          <a:bodyPr lIns="0" tIns="0" rIns="0" bIns="0" rtlCol="0" anchor="t">
            <a:spAutoFit/>
          </a:bodyPr>
          <a:lstStyle/>
          <a:p>
            <a:pPr algn="l">
              <a:lnSpc>
                <a:spcPts val="4034"/>
              </a:lnSpc>
            </a:pPr>
            <a:r>
              <a:rPr lang="en-US" sz="2881" b="1" spc="-121">
                <a:solidFill>
                  <a:srgbClr val="FFFFFF"/>
                </a:solidFill>
                <a:latin typeface="Poppins Bold"/>
                <a:ea typeface="Poppins Bold"/>
                <a:cs typeface="Poppins Bold"/>
                <a:sym typeface="Poppins Bold"/>
              </a:rPr>
              <a:t>From the previous correlation heatmap, we observed a strong positive correlation (0.86) between flavanoids and total_phenols. This scatter plot confirms that relationship visually — as the total_phenols content increases, the flavanoids also tend to increase.</a:t>
            </a:r>
          </a:p>
          <a:p>
            <a:pPr algn="l">
              <a:lnSpc>
                <a:spcPts val="4034"/>
              </a:lnSpc>
            </a:pPr>
            <a:endParaRPr lang="en-US" sz="2881" b="1" spc="-121">
              <a:solidFill>
                <a:srgbClr val="FFFFFF"/>
              </a:solidFill>
              <a:latin typeface="Poppins Bold"/>
              <a:ea typeface="Poppins Bold"/>
              <a:cs typeface="Poppins Bold"/>
              <a:sym typeface="Poppins Bold"/>
            </a:endParaRPr>
          </a:p>
          <a:p>
            <a:pPr algn="l">
              <a:lnSpc>
                <a:spcPts val="4034"/>
              </a:lnSpc>
            </a:pPr>
            <a:r>
              <a:rPr lang="en-US" sz="2881" b="1" spc="-121">
                <a:solidFill>
                  <a:srgbClr val="FFFFFF"/>
                </a:solidFill>
                <a:latin typeface="Poppins Bold"/>
                <a:ea typeface="Poppins Bold"/>
                <a:cs typeface="Poppins Bold"/>
                <a:sym typeface="Poppins Bold"/>
              </a:rPr>
              <a:t>      Key Insight:</a:t>
            </a:r>
          </a:p>
          <a:p>
            <a:pPr marL="622216" lvl="1" indent="-311108" algn="l">
              <a:lnSpc>
                <a:spcPts val="4034"/>
              </a:lnSpc>
              <a:buFont typeface="Arial"/>
              <a:buChar char="•"/>
            </a:pPr>
            <a:r>
              <a:rPr lang="en-US" sz="2881" b="1" spc="-121">
                <a:solidFill>
                  <a:srgbClr val="FFFFFF"/>
                </a:solidFill>
                <a:latin typeface="Poppins Bold"/>
                <a:ea typeface="Poppins Bold"/>
                <a:cs typeface="Poppins Bold"/>
                <a:sym typeface="Poppins Bold"/>
              </a:rPr>
              <a:t>The points form a clear upward trend, indicating a strong linear relationship.</a:t>
            </a:r>
          </a:p>
          <a:p>
            <a:pPr marL="622216" lvl="1" indent="-311108" algn="l">
              <a:lnSpc>
                <a:spcPts val="4034"/>
              </a:lnSpc>
              <a:buFont typeface="Arial"/>
              <a:buChar char="•"/>
            </a:pPr>
            <a:r>
              <a:rPr lang="en-US" sz="2881" b="1" spc="-121">
                <a:solidFill>
                  <a:srgbClr val="FFFFFF"/>
                </a:solidFill>
                <a:latin typeface="Poppins Bold"/>
                <a:ea typeface="Poppins Bold"/>
                <a:cs typeface="Poppins Bold"/>
                <a:sym typeface="Poppins Bold"/>
              </a:rPr>
              <a:t>This suggests that wines with higher total phenolic content generally contain more flavanoids, reinforcing the idea that flavanoids are a major component of total phenols.</a:t>
            </a:r>
          </a:p>
          <a:p>
            <a:pPr algn="l">
              <a:lnSpc>
                <a:spcPts val="4034"/>
              </a:lnSpc>
            </a:pPr>
            <a:r>
              <a:rPr lang="en-US" sz="2881" b="1" spc="-121">
                <a:solidFill>
                  <a:srgbClr val="FFFFFF"/>
                </a:solidFill>
                <a:latin typeface="Poppins Bold"/>
                <a:ea typeface="Poppins Bold"/>
                <a:cs typeface="Poppins Bold"/>
                <a:sym typeface="Poppins Bold"/>
              </a:rPr>
              <a:t> </a:t>
            </a:r>
          </a:p>
          <a:p>
            <a:pPr algn="l">
              <a:lnSpc>
                <a:spcPts val="3614"/>
              </a:lnSpc>
              <a:spcBef>
                <a:spcPct val="0"/>
              </a:spcBef>
            </a:pPr>
            <a:endParaRPr lang="en-US" sz="2881" b="1" spc="-121">
              <a:solidFill>
                <a:srgbClr val="FFFFFF"/>
              </a:solidFill>
              <a:latin typeface="Poppins Bold"/>
              <a:ea typeface="Poppins Bold"/>
              <a:cs typeface="Poppins Bold"/>
              <a:sym typeface="Poppins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0" y="3726967"/>
            <a:ext cx="8590159" cy="6560033"/>
          </a:xfrm>
          <a:custGeom>
            <a:avLst/>
            <a:gdLst/>
            <a:ahLst/>
            <a:cxnLst/>
            <a:rect l="l" t="t" r="r" b="b"/>
            <a:pathLst>
              <a:path w="8590159" h="6560033">
                <a:moveTo>
                  <a:pt x="0" y="0"/>
                </a:moveTo>
                <a:lnTo>
                  <a:pt x="8590159" y="0"/>
                </a:lnTo>
                <a:lnTo>
                  <a:pt x="8590159" y="6560033"/>
                </a:lnTo>
                <a:lnTo>
                  <a:pt x="0" y="6560033"/>
                </a:lnTo>
                <a:lnTo>
                  <a:pt x="0" y="0"/>
                </a:lnTo>
                <a:close/>
              </a:path>
            </a:pathLst>
          </a:custGeom>
          <a:blipFill>
            <a:blip r:embed="rId2"/>
            <a:stretch>
              <a:fillRect l="-631" b="-631"/>
            </a:stretch>
          </a:blipFill>
        </p:spPr>
      </p:sp>
      <p:sp>
        <p:nvSpPr>
          <p:cNvPr id="3" name="TextBox 3"/>
          <p:cNvSpPr txBox="1"/>
          <p:nvPr/>
        </p:nvSpPr>
        <p:spPr>
          <a:xfrm>
            <a:off x="0" y="452944"/>
            <a:ext cx="18288000" cy="1030295"/>
          </a:xfrm>
          <a:prstGeom prst="rect">
            <a:avLst/>
          </a:prstGeom>
        </p:spPr>
        <p:txBody>
          <a:bodyPr lIns="0" tIns="0" rIns="0" bIns="0" rtlCol="0" anchor="t">
            <a:spAutoFit/>
          </a:bodyPr>
          <a:lstStyle/>
          <a:p>
            <a:pPr algn="l">
              <a:lnSpc>
                <a:spcPts val="7172"/>
              </a:lnSpc>
            </a:pPr>
            <a:r>
              <a:rPr lang="en-US" sz="7550" b="1" spc="-317">
                <a:solidFill>
                  <a:srgbClr val="F4F4F4"/>
                </a:solidFill>
                <a:latin typeface="Poppins Medium"/>
                <a:ea typeface="Poppins Medium"/>
                <a:cs typeface="Poppins Medium"/>
                <a:sym typeface="Poppins Medium"/>
              </a:rPr>
              <a:t>Malic Acid vs. Hue Relationship</a:t>
            </a:r>
          </a:p>
        </p:txBody>
      </p:sp>
      <p:sp>
        <p:nvSpPr>
          <p:cNvPr id="4" name="TextBox 4"/>
          <p:cNvSpPr txBox="1"/>
          <p:nvPr/>
        </p:nvSpPr>
        <p:spPr>
          <a:xfrm>
            <a:off x="9144000" y="1407039"/>
            <a:ext cx="8646037" cy="9089213"/>
          </a:xfrm>
          <a:prstGeom prst="rect">
            <a:avLst/>
          </a:prstGeom>
        </p:spPr>
        <p:txBody>
          <a:bodyPr lIns="0" tIns="0" rIns="0" bIns="0" rtlCol="0" anchor="t">
            <a:spAutoFit/>
          </a:bodyPr>
          <a:lstStyle/>
          <a:p>
            <a:pPr algn="l">
              <a:lnSpc>
                <a:spcPts val="3754"/>
              </a:lnSpc>
            </a:pPr>
            <a:r>
              <a:rPr lang="en-US" sz="2681" b="1" spc="-112">
                <a:solidFill>
                  <a:srgbClr val="FFFFFF"/>
                </a:solidFill>
                <a:latin typeface="Poppins Bold"/>
                <a:ea typeface="Poppins Bold"/>
                <a:cs typeface="Poppins Bold"/>
                <a:sym typeface="Poppins Bold"/>
              </a:rPr>
              <a:t>From the previous correlation heatmap, we identified that malic_acid and hue had the strongest negative correlation (–0.56) among all feature pairs.</a:t>
            </a:r>
          </a:p>
          <a:p>
            <a:pPr algn="l">
              <a:lnSpc>
                <a:spcPts val="3754"/>
              </a:lnSpc>
            </a:pPr>
            <a:r>
              <a:rPr lang="en-US" sz="2681" b="1" spc="-112">
                <a:solidFill>
                  <a:srgbClr val="FFFFFF"/>
                </a:solidFill>
                <a:latin typeface="Poppins Bold"/>
                <a:ea typeface="Poppins Bold"/>
                <a:cs typeface="Poppins Bold"/>
                <a:sym typeface="Poppins Bold"/>
              </a:rPr>
              <a:t>While this scatter plot does not show a clear linear downward trend, we can still observe a slight negative pattern, suggesting that as malic acid increases, the hue tends to decrease.</a:t>
            </a:r>
          </a:p>
          <a:p>
            <a:pPr algn="l">
              <a:lnSpc>
                <a:spcPts val="4454"/>
              </a:lnSpc>
            </a:pPr>
            <a:r>
              <a:rPr lang="en-US" sz="3181" spc="-133">
                <a:solidFill>
                  <a:srgbClr val="FFFFFF"/>
                </a:solidFill>
                <a:latin typeface="Poppins"/>
                <a:ea typeface="Poppins"/>
                <a:cs typeface="Poppins"/>
                <a:sym typeface="Poppins"/>
              </a:rPr>
              <a:t>    </a:t>
            </a:r>
            <a:r>
              <a:rPr lang="en-US" sz="3181" b="1" spc="-133">
                <a:solidFill>
                  <a:srgbClr val="FFFFFF"/>
                </a:solidFill>
                <a:latin typeface="Poppins Bold"/>
                <a:ea typeface="Poppins Bold"/>
                <a:cs typeface="Poppins Bold"/>
                <a:sym typeface="Poppins Bold"/>
              </a:rPr>
              <a:t>Key Insight:</a:t>
            </a:r>
          </a:p>
          <a:p>
            <a:pPr marL="579037" lvl="1" indent="-289519" algn="l">
              <a:lnSpc>
                <a:spcPts val="3754"/>
              </a:lnSpc>
              <a:buFont typeface="Arial"/>
              <a:buChar char="•"/>
            </a:pPr>
            <a:r>
              <a:rPr lang="en-US" sz="2681" b="1" spc="-112">
                <a:solidFill>
                  <a:srgbClr val="FFFFFF"/>
                </a:solidFill>
                <a:latin typeface="Poppins Bold"/>
                <a:ea typeface="Poppins Bold"/>
                <a:cs typeface="Poppins Bold"/>
                <a:sym typeface="Poppins Bold"/>
              </a:rPr>
              <a:t>The slight downward spread reflects that features like acidity (malic acid) may influence visual properties of wine such as color tint (hue).</a:t>
            </a:r>
          </a:p>
          <a:p>
            <a:pPr marL="579037" lvl="1" indent="-289519" algn="l">
              <a:lnSpc>
                <a:spcPts val="3754"/>
              </a:lnSpc>
              <a:buFont typeface="Arial"/>
              <a:buChar char="•"/>
            </a:pPr>
            <a:r>
              <a:rPr lang="en-US" sz="2681" b="1" spc="-112">
                <a:solidFill>
                  <a:srgbClr val="FFFFFF"/>
                </a:solidFill>
                <a:latin typeface="Poppins Bold"/>
                <a:ea typeface="Poppins Bold"/>
                <a:cs typeface="Poppins Bold"/>
                <a:sym typeface="Poppins Bold"/>
              </a:rPr>
              <a:t>This relationship, though not perfectly linear, supports the idea that wine composition affects appearance, and can be considered in modeling or quality analysis.</a:t>
            </a:r>
          </a:p>
          <a:p>
            <a:pPr algn="l">
              <a:lnSpc>
                <a:spcPts val="3754"/>
              </a:lnSpc>
            </a:pPr>
            <a:r>
              <a:rPr lang="en-US" sz="2681" b="1" spc="-112">
                <a:solidFill>
                  <a:srgbClr val="FFFFFF"/>
                </a:solidFill>
                <a:latin typeface="Poppins Bold"/>
                <a:ea typeface="Poppins Bold"/>
                <a:cs typeface="Poppins Bold"/>
                <a:sym typeface="Poppins Bold"/>
              </a:rPr>
              <a:t>It highlights subtle but meaningful chemical relationships useful for classification or prediction tasks.</a:t>
            </a:r>
          </a:p>
          <a:p>
            <a:pPr algn="l">
              <a:lnSpc>
                <a:spcPts val="3334"/>
              </a:lnSpc>
              <a:spcBef>
                <a:spcPct val="0"/>
              </a:spcBef>
            </a:pPr>
            <a:endParaRPr lang="en-US" sz="2681" b="1" spc="-112">
              <a:solidFill>
                <a:srgbClr val="FFFFFF"/>
              </a:solidFill>
              <a:latin typeface="Poppins Bold"/>
              <a:ea typeface="Poppins Bold"/>
              <a:cs typeface="Poppins Bold"/>
              <a:sym typeface="Poppins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0" y="2202407"/>
            <a:ext cx="10347966" cy="8018504"/>
          </a:xfrm>
          <a:custGeom>
            <a:avLst/>
            <a:gdLst/>
            <a:ahLst/>
            <a:cxnLst/>
            <a:rect l="l" t="t" r="r" b="b"/>
            <a:pathLst>
              <a:path w="10347966" h="8018504">
                <a:moveTo>
                  <a:pt x="0" y="0"/>
                </a:moveTo>
                <a:lnTo>
                  <a:pt x="10347966" y="0"/>
                </a:lnTo>
                <a:lnTo>
                  <a:pt x="10347966" y="8018504"/>
                </a:lnTo>
                <a:lnTo>
                  <a:pt x="0" y="8018504"/>
                </a:lnTo>
                <a:lnTo>
                  <a:pt x="0" y="0"/>
                </a:lnTo>
                <a:close/>
              </a:path>
            </a:pathLst>
          </a:custGeom>
          <a:blipFill>
            <a:blip r:embed="rId2"/>
            <a:stretch>
              <a:fillRect t="-1235" b="-2005"/>
            </a:stretch>
          </a:blipFill>
          <a:ln cap="sq">
            <a:noFill/>
            <a:prstDash val="solid"/>
            <a:miter/>
          </a:ln>
        </p:spPr>
      </p:sp>
      <p:sp>
        <p:nvSpPr>
          <p:cNvPr id="3" name="TextBox 3"/>
          <p:cNvSpPr txBox="1"/>
          <p:nvPr/>
        </p:nvSpPr>
        <p:spPr>
          <a:xfrm>
            <a:off x="0" y="454561"/>
            <a:ext cx="18288000" cy="1747846"/>
          </a:xfrm>
          <a:prstGeom prst="rect">
            <a:avLst/>
          </a:prstGeom>
        </p:spPr>
        <p:txBody>
          <a:bodyPr lIns="0" tIns="0" rIns="0" bIns="0" rtlCol="0" anchor="t">
            <a:spAutoFit/>
          </a:bodyPr>
          <a:lstStyle/>
          <a:p>
            <a:pPr algn="l">
              <a:lnSpc>
                <a:spcPts val="5652"/>
              </a:lnSpc>
            </a:pPr>
            <a:r>
              <a:rPr lang="en-US" sz="5950" b="1" spc="-249">
                <a:solidFill>
                  <a:srgbClr val="F4F4F4"/>
                </a:solidFill>
                <a:latin typeface="Poppins Medium"/>
                <a:ea typeface="Poppins Medium"/>
                <a:cs typeface="Poppins Medium"/>
                <a:sym typeface="Poppins Medium"/>
              </a:rPr>
              <a:t>Distribution of Chemical Features by Wine Cultivar</a:t>
            </a:r>
          </a:p>
          <a:p>
            <a:pPr algn="l">
              <a:lnSpc>
                <a:spcPts val="7172"/>
              </a:lnSpc>
            </a:pPr>
            <a:endParaRPr lang="en-US" sz="5950" b="1" spc="-249">
              <a:solidFill>
                <a:srgbClr val="F4F4F4"/>
              </a:solidFill>
              <a:latin typeface="Poppins Medium"/>
              <a:ea typeface="Poppins Medium"/>
              <a:cs typeface="Poppins Medium"/>
              <a:sym typeface="Poppins Medium"/>
            </a:endParaRPr>
          </a:p>
        </p:txBody>
      </p:sp>
      <p:sp>
        <p:nvSpPr>
          <p:cNvPr id="4" name="TextBox 4"/>
          <p:cNvSpPr txBox="1"/>
          <p:nvPr/>
        </p:nvSpPr>
        <p:spPr>
          <a:xfrm>
            <a:off x="10638811" y="1432590"/>
            <a:ext cx="7213759" cy="8526745"/>
          </a:xfrm>
          <a:prstGeom prst="rect">
            <a:avLst/>
          </a:prstGeom>
        </p:spPr>
        <p:txBody>
          <a:bodyPr lIns="0" tIns="0" rIns="0" bIns="0" rtlCol="0" anchor="t">
            <a:spAutoFit/>
          </a:bodyPr>
          <a:lstStyle/>
          <a:p>
            <a:pPr algn="l">
              <a:lnSpc>
                <a:spcPts val="3783"/>
              </a:lnSpc>
            </a:pPr>
            <a:r>
              <a:rPr lang="en-US" sz="2702" spc="-113">
                <a:solidFill>
                  <a:srgbClr val="FFFFFF"/>
                </a:solidFill>
                <a:latin typeface="Poppins"/>
                <a:ea typeface="Poppins"/>
                <a:cs typeface="Poppins"/>
                <a:sym typeface="Poppins"/>
              </a:rPr>
              <a:t>Several ingredients clearly help differentiate the three wine cultivars:</a:t>
            </a:r>
          </a:p>
          <a:p>
            <a:pPr marL="583472" lvl="1" indent="-291736" algn="l">
              <a:lnSpc>
                <a:spcPts val="3783"/>
              </a:lnSpc>
              <a:buFont typeface="Arial"/>
              <a:buChar char="•"/>
            </a:pPr>
            <a:r>
              <a:rPr lang="en-US" sz="2702" spc="-113">
                <a:solidFill>
                  <a:srgbClr val="FFFFFF"/>
                </a:solidFill>
                <a:latin typeface="Poppins"/>
                <a:ea typeface="Poppins"/>
                <a:cs typeface="Poppins"/>
                <a:sym typeface="Poppins"/>
              </a:rPr>
              <a:t>Proline is the strongest indicator for Cultivar 0, with much higher values than the others.</a:t>
            </a:r>
          </a:p>
          <a:p>
            <a:pPr marL="583472" lvl="1" indent="-291736" algn="l">
              <a:lnSpc>
                <a:spcPts val="3783"/>
              </a:lnSpc>
              <a:buFont typeface="Arial"/>
              <a:buChar char="•"/>
            </a:pPr>
            <a:r>
              <a:rPr lang="en-US" sz="2702" spc="-113">
                <a:solidFill>
                  <a:srgbClr val="FFFFFF"/>
                </a:solidFill>
                <a:latin typeface="Poppins"/>
                <a:ea typeface="Poppins"/>
                <a:cs typeface="Poppins"/>
                <a:sym typeface="Poppins"/>
              </a:rPr>
              <a:t>Color Intensity stands out for Cultivar 2, showing the highest median and range.</a:t>
            </a:r>
          </a:p>
          <a:p>
            <a:pPr marL="583472" lvl="1" indent="-291736" algn="l">
              <a:lnSpc>
                <a:spcPts val="3783"/>
              </a:lnSpc>
              <a:buFont typeface="Arial"/>
              <a:buChar char="•"/>
            </a:pPr>
            <a:r>
              <a:rPr lang="en-US" sz="2702" spc="-113">
                <a:solidFill>
                  <a:srgbClr val="FFFFFF"/>
                </a:solidFill>
                <a:latin typeface="Poppins"/>
                <a:ea typeface="Poppins"/>
                <a:cs typeface="Poppins"/>
                <a:sym typeface="Poppins"/>
              </a:rPr>
              <a:t>Alcohol helps distinguish Cultivar 1, which has the lowest average.</a:t>
            </a:r>
          </a:p>
          <a:p>
            <a:pPr marL="583472" lvl="1" indent="-291736" algn="l">
              <a:lnSpc>
                <a:spcPts val="3783"/>
              </a:lnSpc>
              <a:buFont typeface="Arial"/>
              <a:buChar char="•"/>
            </a:pPr>
            <a:r>
              <a:rPr lang="en-US" sz="2702" spc="-113">
                <a:solidFill>
                  <a:srgbClr val="FFFFFF"/>
                </a:solidFill>
                <a:latin typeface="Poppins"/>
                <a:ea typeface="Poppins"/>
                <a:cs typeface="Poppins"/>
                <a:sym typeface="Poppins"/>
              </a:rPr>
              <a:t>OD280/OD315 and Hue are useful in identifying Cultivar 2, both showing distinct value patterns.</a:t>
            </a:r>
          </a:p>
          <a:p>
            <a:pPr marL="583472" lvl="1" indent="-291736" algn="l">
              <a:lnSpc>
                <a:spcPts val="3783"/>
              </a:lnSpc>
              <a:buFont typeface="Arial"/>
              <a:buChar char="•"/>
            </a:pPr>
            <a:r>
              <a:rPr lang="en-US" sz="2702" spc="-113">
                <a:solidFill>
                  <a:srgbClr val="FFFFFF"/>
                </a:solidFill>
                <a:latin typeface="Poppins"/>
                <a:ea typeface="Poppins"/>
                <a:cs typeface="Poppins"/>
                <a:sym typeface="Poppins"/>
              </a:rPr>
              <a:t>Flavanoids and Total Phenols effectively separate Cultivar 0 from Cultivar 2.</a:t>
            </a:r>
          </a:p>
          <a:p>
            <a:pPr algn="l">
              <a:lnSpc>
                <a:spcPts val="3783"/>
              </a:lnSpc>
            </a:pPr>
            <a:r>
              <a:rPr lang="en-US" sz="2702" spc="-113">
                <a:solidFill>
                  <a:srgbClr val="FFFFFF"/>
                </a:solidFill>
                <a:latin typeface="Poppins"/>
                <a:ea typeface="Poppins"/>
                <a:cs typeface="Poppins"/>
                <a:sym typeface="Poppins"/>
              </a:rPr>
              <a:t>Less useful features include Ash, Magnesium, and Alcalinity of Ash, which show high overlap.</a:t>
            </a:r>
          </a:p>
          <a:p>
            <a:pPr algn="l">
              <a:lnSpc>
                <a:spcPts val="3360"/>
              </a:lnSpc>
              <a:spcBef>
                <a:spcPct val="0"/>
              </a:spcBef>
            </a:pPr>
            <a:endParaRPr lang="en-US" sz="2702" spc="-113">
              <a:solidFill>
                <a:srgbClr val="FFFFFF"/>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2844573"/>
            <a:ext cx="18288000" cy="0"/>
          </a:xfrm>
          <a:prstGeom prst="line">
            <a:avLst/>
          </a:prstGeom>
          <a:ln w="9525" cap="rnd">
            <a:solidFill>
              <a:srgbClr val="F4F4F4"/>
            </a:solidFill>
            <a:prstDash val="solid"/>
            <a:headEnd type="none" w="sm" len="sm"/>
            <a:tailEnd type="none" w="sm" len="sm"/>
          </a:ln>
        </p:spPr>
      </p:sp>
      <p:sp>
        <p:nvSpPr>
          <p:cNvPr id="3" name="TextBox 3"/>
          <p:cNvSpPr txBox="1"/>
          <p:nvPr/>
        </p:nvSpPr>
        <p:spPr>
          <a:xfrm>
            <a:off x="1524693" y="114300"/>
            <a:ext cx="14322254" cy="2214562"/>
          </a:xfrm>
          <a:prstGeom prst="rect">
            <a:avLst/>
          </a:prstGeom>
        </p:spPr>
        <p:txBody>
          <a:bodyPr lIns="0" tIns="0" rIns="0" bIns="0" rtlCol="0" anchor="t">
            <a:spAutoFit/>
          </a:bodyPr>
          <a:lstStyle/>
          <a:p>
            <a:pPr algn="ctr">
              <a:lnSpc>
                <a:spcPts val="8122"/>
              </a:lnSpc>
            </a:pPr>
            <a:r>
              <a:rPr lang="en-US" sz="8550" b="1" spc="-359">
                <a:solidFill>
                  <a:srgbClr val="F4F4F4"/>
                </a:solidFill>
                <a:latin typeface="Poppins Medium"/>
                <a:ea typeface="Poppins Medium"/>
                <a:cs typeface="Poppins Medium"/>
                <a:sym typeface="Poppins Medium"/>
              </a:rPr>
              <a:t>Exploratory Data Analysis (EDA)</a:t>
            </a:r>
          </a:p>
        </p:txBody>
      </p:sp>
      <p:sp>
        <p:nvSpPr>
          <p:cNvPr id="4" name="TextBox 4"/>
          <p:cNvSpPr txBox="1"/>
          <p:nvPr/>
        </p:nvSpPr>
        <p:spPr>
          <a:xfrm>
            <a:off x="170258" y="2254351"/>
            <a:ext cx="8515562" cy="591911"/>
          </a:xfrm>
          <a:prstGeom prst="rect">
            <a:avLst/>
          </a:prstGeom>
        </p:spPr>
        <p:txBody>
          <a:bodyPr lIns="0" tIns="0" rIns="0" bIns="0" rtlCol="0" anchor="t">
            <a:spAutoFit/>
          </a:bodyPr>
          <a:lstStyle/>
          <a:p>
            <a:pPr algn="l">
              <a:lnSpc>
                <a:spcPts val="4649"/>
              </a:lnSpc>
              <a:spcBef>
                <a:spcPct val="0"/>
              </a:spcBef>
            </a:pPr>
            <a:r>
              <a:rPr lang="en-US" sz="3321" spc="-139">
                <a:solidFill>
                  <a:srgbClr val="F4F4F4"/>
                </a:solidFill>
                <a:latin typeface="Poppins"/>
                <a:ea typeface="Poppins"/>
                <a:cs typeface="Poppins"/>
                <a:sym typeface="Poppins"/>
              </a:rPr>
              <a:t> Trends Trends :</a:t>
            </a:r>
          </a:p>
        </p:txBody>
      </p:sp>
      <p:sp>
        <p:nvSpPr>
          <p:cNvPr id="5" name="TextBox 5"/>
          <p:cNvSpPr txBox="1"/>
          <p:nvPr/>
        </p:nvSpPr>
        <p:spPr>
          <a:xfrm>
            <a:off x="170258" y="5048250"/>
            <a:ext cx="8515562" cy="591911"/>
          </a:xfrm>
          <a:prstGeom prst="rect">
            <a:avLst/>
          </a:prstGeom>
        </p:spPr>
        <p:txBody>
          <a:bodyPr lIns="0" tIns="0" rIns="0" bIns="0" rtlCol="0" anchor="t">
            <a:spAutoFit/>
          </a:bodyPr>
          <a:lstStyle/>
          <a:p>
            <a:pPr algn="l">
              <a:lnSpc>
                <a:spcPts val="4649"/>
              </a:lnSpc>
              <a:spcBef>
                <a:spcPct val="0"/>
              </a:spcBef>
            </a:pPr>
            <a:r>
              <a:rPr lang="en-US" sz="3321" spc="-139">
                <a:solidFill>
                  <a:srgbClr val="F4F4F4"/>
                </a:solidFill>
                <a:latin typeface="Poppins"/>
                <a:ea typeface="Poppins"/>
                <a:cs typeface="Poppins"/>
                <a:sym typeface="Poppins"/>
              </a:rPr>
              <a:t>Outliers:</a:t>
            </a:r>
          </a:p>
        </p:txBody>
      </p:sp>
      <p:sp>
        <p:nvSpPr>
          <p:cNvPr id="6" name="AutoShape 6"/>
          <p:cNvSpPr/>
          <p:nvPr/>
        </p:nvSpPr>
        <p:spPr>
          <a:xfrm flipV="1">
            <a:off x="0" y="5635398"/>
            <a:ext cx="18288000" cy="0"/>
          </a:xfrm>
          <a:prstGeom prst="line">
            <a:avLst/>
          </a:prstGeom>
          <a:ln w="9525" cap="rnd">
            <a:solidFill>
              <a:srgbClr val="F4F4F4"/>
            </a:solidFill>
            <a:prstDash val="solid"/>
            <a:headEnd type="none" w="sm" len="sm"/>
            <a:tailEnd type="none" w="sm" len="sm"/>
          </a:ln>
        </p:spPr>
      </p:sp>
      <p:sp>
        <p:nvSpPr>
          <p:cNvPr id="7" name="AutoShape 7"/>
          <p:cNvSpPr/>
          <p:nvPr/>
        </p:nvSpPr>
        <p:spPr>
          <a:xfrm flipV="1">
            <a:off x="0" y="7707353"/>
            <a:ext cx="18288000" cy="0"/>
          </a:xfrm>
          <a:prstGeom prst="line">
            <a:avLst/>
          </a:prstGeom>
          <a:ln w="9525" cap="rnd">
            <a:solidFill>
              <a:srgbClr val="F4F4F4"/>
            </a:solidFill>
            <a:prstDash val="solid"/>
            <a:headEnd type="none" w="sm" len="sm"/>
            <a:tailEnd type="none" w="sm" len="sm"/>
          </a:ln>
        </p:spPr>
      </p:sp>
      <p:sp>
        <p:nvSpPr>
          <p:cNvPr id="8" name="TextBox 8"/>
          <p:cNvSpPr txBox="1"/>
          <p:nvPr/>
        </p:nvSpPr>
        <p:spPr>
          <a:xfrm>
            <a:off x="170258" y="6982684"/>
            <a:ext cx="8515562" cy="591911"/>
          </a:xfrm>
          <a:prstGeom prst="rect">
            <a:avLst/>
          </a:prstGeom>
        </p:spPr>
        <p:txBody>
          <a:bodyPr lIns="0" tIns="0" rIns="0" bIns="0" rtlCol="0" anchor="t">
            <a:spAutoFit/>
          </a:bodyPr>
          <a:lstStyle/>
          <a:p>
            <a:pPr algn="l">
              <a:lnSpc>
                <a:spcPts val="4649"/>
              </a:lnSpc>
              <a:spcBef>
                <a:spcPct val="0"/>
              </a:spcBef>
            </a:pPr>
            <a:r>
              <a:rPr lang="en-US" sz="3321" spc="-139">
                <a:solidFill>
                  <a:srgbClr val="F4F4F4"/>
                </a:solidFill>
                <a:latin typeface="Poppins"/>
                <a:ea typeface="Poppins"/>
                <a:cs typeface="Poppins"/>
                <a:sym typeface="Poppins"/>
              </a:rPr>
              <a:t> Correlations:</a:t>
            </a:r>
          </a:p>
        </p:txBody>
      </p:sp>
      <p:sp>
        <p:nvSpPr>
          <p:cNvPr id="9" name="TextBox 9"/>
          <p:cNvSpPr txBox="1"/>
          <p:nvPr/>
        </p:nvSpPr>
        <p:spPr>
          <a:xfrm>
            <a:off x="511556" y="3046287"/>
            <a:ext cx="16348529" cy="1828890"/>
          </a:xfrm>
          <a:prstGeom prst="rect">
            <a:avLst/>
          </a:prstGeom>
        </p:spPr>
        <p:txBody>
          <a:bodyPr lIns="0" tIns="0" rIns="0" bIns="0" rtlCol="0" anchor="t">
            <a:spAutoFit/>
          </a:bodyPr>
          <a:lstStyle/>
          <a:p>
            <a:pPr marL="565970" lvl="1" indent="-282985" algn="l">
              <a:lnSpc>
                <a:spcPts val="3670"/>
              </a:lnSpc>
              <a:buFont typeface="Arial"/>
              <a:buChar char="•"/>
            </a:pPr>
            <a:r>
              <a:rPr lang="en-US" sz="2621" spc="-110">
                <a:solidFill>
                  <a:srgbClr val="F4F4F4"/>
                </a:solidFill>
                <a:latin typeface="Poppins"/>
                <a:ea typeface="Poppins"/>
                <a:cs typeface="Poppins"/>
                <a:sym typeface="Poppins"/>
              </a:rPr>
              <a:t>Wine Class 0 has the most samples, while Class 2 has the fewest.</a:t>
            </a:r>
          </a:p>
          <a:p>
            <a:pPr marL="565970" lvl="1" indent="-282985" algn="l">
              <a:lnSpc>
                <a:spcPts val="3670"/>
              </a:lnSpc>
              <a:buFont typeface="Arial"/>
              <a:buChar char="•"/>
            </a:pPr>
            <a:r>
              <a:rPr lang="en-US" sz="2621" spc="-110">
                <a:solidFill>
                  <a:srgbClr val="F4F4F4"/>
                </a:solidFill>
                <a:latin typeface="Poppins"/>
                <a:ea typeface="Poppins"/>
                <a:cs typeface="Poppins"/>
                <a:sym typeface="Poppins"/>
              </a:rPr>
              <a:t>Class 0 wines tend to have higher values in features like Proline, Flavanoids, and Total Phenols.</a:t>
            </a:r>
          </a:p>
          <a:p>
            <a:pPr marL="565970" lvl="1" indent="-282985" algn="l">
              <a:lnSpc>
                <a:spcPts val="3670"/>
              </a:lnSpc>
              <a:buFont typeface="Arial"/>
              <a:buChar char="•"/>
            </a:pPr>
            <a:r>
              <a:rPr lang="en-US" sz="2621" spc="-110">
                <a:solidFill>
                  <a:srgbClr val="F4F4F4"/>
                </a:solidFill>
                <a:latin typeface="Poppins"/>
                <a:ea typeface="Poppins"/>
                <a:cs typeface="Poppins"/>
                <a:sym typeface="Poppins"/>
              </a:rPr>
              <a:t>Class 1 shows the lowest Alcohol content, clearly separating it from the other two.</a:t>
            </a:r>
          </a:p>
          <a:p>
            <a:pPr marL="565970" lvl="1" indent="-282985" algn="l">
              <a:lnSpc>
                <a:spcPts val="3670"/>
              </a:lnSpc>
              <a:buFont typeface="Arial"/>
              <a:buChar char="•"/>
            </a:pPr>
            <a:r>
              <a:rPr lang="en-US" sz="2621" spc="-110">
                <a:solidFill>
                  <a:srgbClr val="F4F4F4"/>
                </a:solidFill>
                <a:latin typeface="Poppins"/>
                <a:ea typeface="Poppins"/>
                <a:cs typeface="Poppins"/>
                <a:sym typeface="Poppins"/>
              </a:rPr>
              <a:t>Class 2 stands out with higher Color Intensity and a wider range of Malic Acid values.</a:t>
            </a:r>
          </a:p>
        </p:txBody>
      </p:sp>
      <p:sp>
        <p:nvSpPr>
          <p:cNvPr id="10" name="TextBox 10"/>
          <p:cNvSpPr txBox="1"/>
          <p:nvPr/>
        </p:nvSpPr>
        <p:spPr>
          <a:xfrm>
            <a:off x="511556" y="5706244"/>
            <a:ext cx="16348529" cy="1371690"/>
          </a:xfrm>
          <a:prstGeom prst="rect">
            <a:avLst/>
          </a:prstGeom>
        </p:spPr>
        <p:txBody>
          <a:bodyPr lIns="0" tIns="0" rIns="0" bIns="0" rtlCol="0" anchor="t">
            <a:spAutoFit/>
          </a:bodyPr>
          <a:lstStyle/>
          <a:p>
            <a:pPr marL="565970" lvl="1" indent="-282985" algn="l">
              <a:lnSpc>
                <a:spcPts val="3670"/>
              </a:lnSpc>
              <a:buFont typeface="Arial"/>
              <a:buChar char="•"/>
            </a:pPr>
            <a:r>
              <a:rPr lang="en-US" sz="2621" spc="-110">
                <a:solidFill>
                  <a:srgbClr val="F4F4F4"/>
                </a:solidFill>
                <a:latin typeface="Poppins"/>
                <a:ea typeface="Poppins"/>
                <a:cs typeface="Poppins"/>
                <a:sym typeface="Poppins"/>
              </a:rPr>
              <a:t>No significant outliers were detected; most values across features appeared to be within a close range.</a:t>
            </a:r>
          </a:p>
          <a:p>
            <a:pPr marL="565970" lvl="1" indent="-282985" algn="l">
              <a:lnSpc>
                <a:spcPts val="3670"/>
              </a:lnSpc>
              <a:spcBef>
                <a:spcPct val="0"/>
              </a:spcBef>
              <a:buFont typeface="Arial"/>
              <a:buChar char="•"/>
            </a:pPr>
            <a:r>
              <a:rPr lang="en-US" sz="2621" spc="-110">
                <a:solidFill>
                  <a:srgbClr val="F4F4F4"/>
                </a:solidFill>
                <a:latin typeface="Poppins"/>
                <a:ea typeface="Poppins"/>
                <a:cs typeface="Poppins"/>
                <a:sym typeface="Poppins"/>
              </a:rPr>
              <a:t>The dataset is fairly clean, with no extreme anomalies affecting the analysis or model performance.</a:t>
            </a:r>
          </a:p>
          <a:p>
            <a:pPr algn="l">
              <a:lnSpc>
                <a:spcPts val="3670"/>
              </a:lnSpc>
              <a:spcBef>
                <a:spcPct val="0"/>
              </a:spcBef>
            </a:pPr>
            <a:endParaRPr lang="en-US" sz="2621" spc="-110">
              <a:solidFill>
                <a:srgbClr val="F4F4F4"/>
              </a:solidFill>
              <a:latin typeface="Poppins"/>
              <a:ea typeface="Poppins"/>
              <a:cs typeface="Poppins"/>
              <a:sym typeface="Poppins"/>
            </a:endParaRPr>
          </a:p>
        </p:txBody>
      </p:sp>
      <p:sp>
        <p:nvSpPr>
          <p:cNvPr id="11" name="TextBox 11"/>
          <p:cNvSpPr txBox="1"/>
          <p:nvPr/>
        </p:nvSpPr>
        <p:spPr>
          <a:xfrm>
            <a:off x="511556" y="7769265"/>
            <a:ext cx="17453420" cy="2681877"/>
          </a:xfrm>
          <a:prstGeom prst="rect">
            <a:avLst/>
          </a:prstGeom>
        </p:spPr>
        <p:txBody>
          <a:bodyPr lIns="0" tIns="0" rIns="0" bIns="0" rtlCol="0" anchor="t">
            <a:spAutoFit/>
          </a:bodyPr>
          <a:lstStyle/>
          <a:p>
            <a:pPr marL="550970" lvl="1" indent="-275485" algn="l">
              <a:lnSpc>
                <a:spcPts val="3572"/>
              </a:lnSpc>
              <a:buFont typeface="Arial"/>
              <a:buChar char="•"/>
            </a:pPr>
            <a:r>
              <a:rPr lang="en-US" sz="2551" spc="-107">
                <a:solidFill>
                  <a:srgbClr val="F4F4F4"/>
                </a:solidFill>
                <a:latin typeface="Poppins"/>
                <a:ea typeface="Poppins"/>
                <a:cs typeface="Poppins"/>
                <a:sym typeface="Poppins"/>
              </a:rPr>
              <a:t>Most features showed low to moderate correlation, indicating they contribute independent information.</a:t>
            </a:r>
          </a:p>
          <a:p>
            <a:pPr marL="550970" lvl="1" indent="-275485" algn="l">
              <a:lnSpc>
                <a:spcPts val="3572"/>
              </a:lnSpc>
              <a:buFont typeface="Arial"/>
              <a:buChar char="•"/>
            </a:pPr>
            <a:r>
              <a:rPr lang="en-US" sz="2551" spc="-107">
                <a:solidFill>
                  <a:srgbClr val="F4F4F4"/>
                </a:solidFill>
                <a:latin typeface="Poppins"/>
                <a:ea typeface="Poppins"/>
                <a:cs typeface="Poppins"/>
                <a:sym typeface="Poppins"/>
              </a:rPr>
              <a:t>Flavanoids and Total Phenols showed the strongest positive correlation (+0.86), suggesting wines with more phenols tend to have higher flavonoids.</a:t>
            </a:r>
          </a:p>
          <a:p>
            <a:pPr marL="550970" lvl="1" indent="-275485" algn="l">
              <a:lnSpc>
                <a:spcPts val="3572"/>
              </a:lnSpc>
              <a:spcBef>
                <a:spcPct val="0"/>
              </a:spcBef>
              <a:buFont typeface="Arial"/>
              <a:buChar char="•"/>
            </a:pPr>
            <a:r>
              <a:rPr lang="en-US" sz="2551" spc="-107">
                <a:solidFill>
                  <a:srgbClr val="F4F4F4"/>
                </a:solidFill>
                <a:latin typeface="Poppins"/>
                <a:ea typeface="Poppins"/>
                <a:cs typeface="Poppins"/>
                <a:sym typeface="Poppins"/>
              </a:rPr>
              <a:t>This strong correlation may indicate a shared chemical characteristic common in certain wine classes, especially Class 0.</a:t>
            </a:r>
          </a:p>
          <a:p>
            <a:pPr algn="l">
              <a:lnSpc>
                <a:spcPts val="3572"/>
              </a:lnSpc>
              <a:spcBef>
                <a:spcPct val="0"/>
              </a:spcBef>
            </a:pPr>
            <a:endParaRPr lang="en-US" sz="2551" spc="-107">
              <a:solidFill>
                <a:srgbClr val="F4F4F4"/>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0" y="5143500"/>
            <a:ext cx="12279636" cy="0"/>
          </a:xfrm>
          <a:prstGeom prst="line">
            <a:avLst/>
          </a:prstGeom>
          <a:ln w="9525" cap="rnd">
            <a:solidFill>
              <a:srgbClr val="F4F4F4"/>
            </a:solidFill>
            <a:prstDash val="solid"/>
            <a:headEnd type="none" w="sm" len="sm"/>
            <a:tailEnd type="none" w="sm" len="sm"/>
          </a:ln>
        </p:spPr>
      </p:sp>
      <p:sp>
        <p:nvSpPr>
          <p:cNvPr id="3" name="AutoShape 3"/>
          <p:cNvSpPr/>
          <p:nvPr/>
        </p:nvSpPr>
        <p:spPr>
          <a:xfrm flipV="1">
            <a:off x="12279636" y="0"/>
            <a:ext cx="0" cy="10321060"/>
          </a:xfrm>
          <a:prstGeom prst="line">
            <a:avLst/>
          </a:prstGeom>
          <a:ln w="9525" cap="rnd">
            <a:solidFill>
              <a:srgbClr val="F4F4F4"/>
            </a:solidFill>
            <a:prstDash val="solid"/>
            <a:headEnd type="none" w="sm" len="sm"/>
            <a:tailEnd type="none" w="sm" len="sm"/>
          </a:ln>
        </p:spPr>
      </p:sp>
      <p:grpSp>
        <p:nvGrpSpPr>
          <p:cNvPr id="4" name="Group 4"/>
          <p:cNvGrpSpPr/>
          <p:nvPr/>
        </p:nvGrpSpPr>
        <p:grpSpPr>
          <a:xfrm>
            <a:off x="13356138" y="1501029"/>
            <a:ext cx="4426797" cy="823858"/>
            <a:chOff x="0" y="0"/>
            <a:chExt cx="1165905" cy="216983"/>
          </a:xfrm>
        </p:grpSpPr>
        <p:sp>
          <p:nvSpPr>
            <p:cNvPr id="5" name="Freeform 5"/>
            <p:cNvSpPr/>
            <p:nvPr/>
          </p:nvSpPr>
          <p:spPr>
            <a:xfrm>
              <a:off x="0" y="0"/>
              <a:ext cx="1165905" cy="216983"/>
            </a:xfrm>
            <a:custGeom>
              <a:avLst/>
              <a:gdLst/>
              <a:ahLst/>
              <a:cxnLst/>
              <a:rect l="l" t="t" r="r" b="b"/>
              <a:pathLst>
                <a:path w="1165905" h="216983">
                  <a:moveTo>
                    <a:pt x="108492" y="0"/>
                  </a:moveTo>
                  <a:lnTo>
                    <a:pt x="1057414" y="0"/>
                  </a:lnTo>
                  <a:cubicBezTo>
                    <a:pt x="1117332" y="0"/>
                    <a:pt x="1165905" y="48573"/>
                    <a:pt x="1165905" y="108492"/>
                  </a:cubicBezTo>
                  <a:lnTo>
                    <a:pt x="1165905" y="108492"/>
                  </a:lnTo>
                  <a:cubicBezTo>
                    <a:pt x="1165905" y="168410"/>
                    <a:pt x="1117332" y="216983"/>
                    <a:pt x="1057414"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6" name="TextBox 6"/>
            <p:cNvSpPr txBox="1"/>
            <p:nvPr/>
          </p:nvSpPr>
          <p:spPr>
            <a:xfrm>
              <a:off x="0" y="-76200"/>
              <a:ext cx="1165905" cy="293183"/>
            </a:xfrm>
            <a:prstGeom prst="rect">
              <a:avLst/>
            </a:prstGeom>
          </p:spPr>
          <p:txBody>
            <a:bodyPr lIns="50800" tIns="50800" rIns="50800" bIns="50800" rtlCol="0" anchor="ctr"/>
            <a:lstStyle/>
            <a:p>
              <a:pPr algn="ctr">
                <a:lnSpc>
                  <a:spcPts val="3530"/>
                </a:lnSpc>
              </a:pPr>
              <a:r>
                <a:rPr lang="en-US" sz="2521" b="1" spc="52">
                  <a:solidFill>
                    <a:srgbClr val="F4F4F4"/>
                  </a:solidFill>
                  <a:latin typeface="Poppins Medium"/>
                  <a:ea typeface="Poppins Medium"/>
                  <a:cs typeface="Poppins Medium"/>
                  <a:sym typeface="Poppins Medium"/>
                </a:rPr>
                <a:t>K-NEAREST NEIGHBORS</a:t>
              </a:r>
            </a:p>
          </p:txBody>
        </p:sp>
      </p:grpSp>
      <p:grpSp>
        <p:nvGrpSpPr>
          <p:cNvPr id="7" name="Group 7"/>
          <p:cNvGrpSpPr/>
          <p:nvPr/>
        </p:nvGrpSpPr>
        <p:grpSpPr>
          <a:xfrm>
            <a:off x="13356138" y="2979379"/>
            <a:ext cx="4426797" cy="823858"/>
            <a:chOff x="0" y="0"/>
            <a:chExt cx="1165905" cy="216983"/>
          </a:xfrm>
        </p:grpSpPr>
        <p:sp>
          <p:nvSpPr>
            <p:cNvPr id="8" name="Freeform 8"/>
            <p:cNvSpPr/>
            <p:nvPr/>
          </p:nvSpPr>
          <p:spPr>
            <a:xfrm>
              <a:off x="0" y="0"/>
              <a:ext cx="1165905" cy="216983"/>
            </a:xfrm>
            <a:custGeom>
              <a:avLst/>
              <a:gdLst/>
              <a:ahLst/>
              <a:cxnLst/>
              <a:rect l="l" t="t" r="r" b="b"/>
              <a:pathLst>
                <a:path w="1165905" h="216983">
                  <a:moveTo>
                    <a:pt x="108492" y="0"/>
                  </a:moveTo>
                  <a:lnTo>
                    <a:pt x="1057414" y="0"/>
                  </a:lnTo>
                  <a:cubicBezTo>
                    <a:pt x="1117332" y="0"/>
                    <a:pt x="1165905" y="48573"/>
                    <a:pt x="1165905" y="108492"/>
                  </a:cubicBezTo>
                  <a:lnTo>
                    <a:pt x="1165905" y="108492"/>
                  </a:lnTo>
                  <a:cubicBezTo>
                    <a:pt x="1165905" y="168410"/>
                    <a:pt x="1117332" y="216983"/>
                    <a:pt x="1057414"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9" name="TextBox 9"/>
            <p:cNvSpPr txBox="1"/>
            <p:nvPr/>
          </p:nvSpPr>
          <p:spPr>
            <a:xfrm>
              <a:off x="0" y="-76200"/>
              <a:ext cx="1165905" cy="293183"/>
            </a:xfrm>
            <a:prstGeom prst="rect">
              <a:avLst/>
            </a:prstGeom>
          </p:spPr>
          <p:txBody>
            <a:bodyPr lIns="50800" tIns="50800" rIns="50800" bIns="50800" rtlCol="0" anchor="ctr"/>
            <a:lstStyle/>
            <a:p>
              <a:pPr algn="ctr">
                <a:lnSpc>
                  <a:spcPts val="3530"/>
                </a:lnSpc>
              </a:pPr>
              <a:r>
                <a:rPr lang="en-US" sz="2521" b="1" spc="52">
                  <a:solidFill>
                    <a:srgbClr val="F4F4F4"/>
                  </a:solidFill>
                  <a:latin typeface="Poppins Medium"/>
                  <a:ea typeface="Poppins Medium"/>
                  <a:cs typeface="Poppins Medium"/>
                  <a:sym typeface="Poppins Medium"/>
                </a:rPr>
                <a:t>LOGISTIC REGRESSION</a:t>
              </a:r>
            </a:p>
          </p:txBody>
        </p:sp>
      </p:grpSp>
      <p:grpSp>
        <p:nvGrpSpPr>
          <p:cNvPr id="10" name="Group 10"/>
          <p:cNvGrpSpPr/>
          <p:nvPr/>
        </p:nvGrpSpPr>
        <p:grpSpPr>
          <a:xfrm>
            <a:off x="13356138" y="4627691"/>
            <a:ext cx="4426797" cy="823858"/>
            <a:chOff x="0" y="0"/>
            <a:chExt cx="1165905" cy="216983"/>
          </a:xfrm>
        </p:grpSpPr>
        <p:sp>
          <p:nvSpPr>
            <p:cNvPr id="11" name="Freeform 11"/>
            <p:cNvSpPr/>
            <p:nvPr/>
          </p:nvSpPr>
          <p:spPr>
            <a:xfrm>
              <a:off x="0" y="0"/>
              <a:ext cx="1165905" cy="216983"/>
            </a:xfrm>
            <a:custGeom>
              <a:avLst/>
              <a:gdLst/>
              <a:ahLst/>
              <a:cxnLst/>
              <a:rect l="l" t="t" r="r" b="b"/>
              <a:pathLst>
                <a:path w="1165905" h="216983">
                  <a:moveTo>
                    <a:pt x="108492" y="0"/>
                  </a:moveTo>
                  <a:lnTo>
                    <a:pt x="1057414" y="0"/>
                  </a:lnTo>
                  <a:cubicBezTo>
                    <a:pt x="1117332" y="0"/>
                    <a:pt x="1165905" y="48573"/>
                    <a:pt x="1165905" y="108492"/>
                  </a:cubicBezTo>
                  <a:lnTo>
                    <a:pt x="1165905" y="108492"/>
                  </a:lnTo>
                  <a:cubicBezTo>
                    <a:pt x="1165905" y="168410"/>
                    <a:pt x="1117332" y="216983"/>
                    <a:pt x="1057414"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12" name="TextBox 12"/>
            <p:cNvSpPr txBox="1"/>
            <p:nvPr/>
          </p:nvSpPr>
          <p:spPr>
            <a:xfrm>
              <a:off x="0" y="-76200"/>
              <a:ext cx="1165905" cy="293183"/>
            </a:xfrm>
            <a:prstGeom prst="rect">
              <a:avLst/>
            </a:prstGeom>
          </p:spPr>
          <p:txBody>
            <a:bodyPr lIns="50800" tIns="50800" rIns="50800" bIns="50800" rtlCol="0" anchor="ctr"/>
            <a:lstStyle/>
            <a:p>
              <a:pPr algn="ctr">
                <a:lnSpc>
                  <a:spcPts val="3530"/>
                </a:lnSpc>
              </a:pPr>
              <a:r>
                <a:rPr lang="en-US" sz="2521" b="1" spc="52">
                  <a:solidFill>
                    <a:srgbClr val="F4F4F4"/>
                  </a:solidFill>
                  <a:latin typeface="Poppins Medium"/>
                  <a:ea typeface="Poppins Medium"/>
                  <a:cs typeface="Poppins Medium"/>
                  <a:sym typeface="Poppins Medium"/>
                </a:rPr>
                <a:t>ANALYZE DATA</a:t>
              </a:r>
            </a:p>
          </p:txBody>
        </p:sp>
      </p:grpSp>
      <p:grpSp>
        <p:nvGrpSpPr>
          <p:cNvPr id="13" name="Group 13"/>
          <p:cNvGrpSpPr/>
          <p:nvPr/>
        </p:nvGrpSpPr>
        <p:grpSpPr>
          <a:xfrm>
            <a:off x="13356138" y="6209150"/>
            <a:ext cx="4426797" cy="823858"/>
            <a:chOff x="0" y="0"/>
            <a:chExt cx="1165905" cy="216983"/>
          </a:xfrm>
        </p:grpSpPr>
        <p:sp>
          <p:nvSpPr>
            <p:cNvPr id="14" name="Freeform 14"/>
            <p:cNvSpPr/>
            <p:nvPr/>
          </p:nvSpPr>
          <p:spPr>
            <a:xfrm>
              <a:off x="0" y="0"/>
              <a:ext cx="1165905" cy="216983"/>
            </a:xfrm>
            <a:custGeom>
              <a:avLst/>
              <a:gdLst/>
              <a:ahLst/>
              <a:cxnLst/>
              <a:rect l="l" t="t" r="r" b="b"/>
              <a:pathLst>
                <a:path w="1165905" h="216983">
                  <a:moveTo>
                    <a:pt x="108492" y="0"/>
                  </a:moveTo>
                  <a:lnTo>
                    <a:pt x="1057414" y="0"/>
                  </a:lnTo>
                  <a:cubicBezTo>
                    <a:pt x="1117332" y="0"/>
                    <a:pt x="1165905" y="48573"/>
                    <a:pt x="1165905" y="108492"/>
                  </a:cubicBezTo>
                  <a:lnTo>
                    <a:pt x="1165905" y="108492"/>
                  </a:lnTo>
                  <a:cubicBezTo>
                    <a:pt x="1165905" y="168410"/>
                    <a:pt x="1117332" y="216983"/>
                    <a:pt x="1057414"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15" name="TextBox 15"/>
            <p:cNvSpPr txBox="1"/>
            <p:nvPr/>
          </p:nvSpPr>
          <p:spPr>
            <a:xfrm>
              <a:off x="0" y="-76200"/>
              <a:ext cx="1165905" cy="293183"/>
            </a:xfrm>
            <a:prstGeom prst="rect">
              <a:avLst/>
            </a:prstGeom>
          </p:spPr>
          <p:txBody>
            <a:bodyPr lIns="50800" tIns="50800" rIns="50800" bIns="50800" rtlCol="0" anchor="ctr"/>
            <a:lstStyle/>
            <a:p>
              <a:pPr algn="ctr">
                <a:lnSpc>
                  <a:spcPts val="3530"/>
                </a:lnSpc>
              </a:pPr>
              <a:r>
                <a:rPr lang="en-US" sz="2521" b="1" spc="52">
                  <a:solidFill>
                    <a:srgbClr val="F4F4F4"/>
                  </a:solidFill>
                  <a:latin typeface="Poppins Medium"/>
                  <a:ea typeface="Poppins Medium"/>
                  <a:cs typeface="Poppins Medium"/>
                  <a:sym typeface="Poppins Medium"/>
                </a:rPr>
                <a:t>DECISION TREE</a:t>
              </a:r>
            </a:p>
          </p:txBody>
        </p:sp>
      </p:grpSp>
      <p:grpSp>
        <p:nvGrpSpPr>
          <p:cNvPr id="16" name="Group 16"/>
          <p:cNvGrpSpPr/>
          <p:nvPr/>
        </p:nvGrpSpPr>
        <p:grpSpPr>
          <a:xfrm>
            <a:off x="13356138" y="7681601"/>
            <a:ext cx="4426797" cy="823858"/>
            <a:chOff x="0" y="0"/>
            <a:chExt cx="1165905" cy="216983"/>
          </a:xfrm>
        </p:grpSpPr>
        <p:sp>
          <p:nvSpPr>
            <p:cNvPr id="17" name="Freeform 17"/>
            <p:cNvSpPr/>
            <p:nvPr/>
          </p:nvSpPr>
          <p:spPr>
            <a:xfrm>
              <a:off x="0" y="0"/>
              <a:ext cx="1165905" cy="216983"/>
            </a:xfrm>
            <a:custGeom>
              <a:avLst/>
              <a:gdLst/>
              <a:ahLst/>
              <a:cxnLst/>
              <a:rect l="l" t="t" r="r" b="b"/>
              <a:pathLst>
                <a:path w="1165905" h="216983">
                  <a:moveTo>
                    <a:pt x="108492" y="0"/>
                  </a:moveTo>
                  <a:lnTo>
                    <a:pt x="1057414" y="0"/>
                  </a:lnTo>
                  <a:cubicBezTo>
                    <a:pt x="1117332" y="0"/>
                    <a:pt x="1165905" y="48573"/>
                    <a:pt x="1165905" y="108492"/>
                  </a:cubicBezTo>
                  <a:lnTo>
                    <a:pt x="1165905" y="108492"/>
                  </a:lnTo>
                  <a:cubicBezTo>
                    <a:pt x="1165905" y="168410"/>
                    <a:pt x="1117332" y="216983"/>
                    <a:pt x="1057414"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18" name="TextBox 18"/>
            <p:cNvSpPr txBox="1"/>
            <p:nvPr/>
          </p:nvSpPr>
          <p:spPr>
            <a:xfrm>
              <a:off x="0" y="-76200"/>
              <a:ext cx="1165905" cy="293183"/>
            </a:xfrm>
            <a:prstGeom prst="rect">
              <a:avLst/>
            </a:prstGeom>
          </p:spPr>
          <p:txBody>
            <a:bodyPr lIns="50800" tIns="50800" rIns="50800" bIns="50800" rtlCol="0" anchor="ctr"/>
            <a:lstStyle/>
            <a:p>
              <a:pPr algn="ctr">
                <a:lnSpc>
                  <a:spcPts val="3530"/>
                </a:lnSpc>
              </a:pPr>
              <a:r>
                <a:rPr lang="en-US" sz="2521" b="1" spc="52">
                  <a:solidFill>
                    <a:srgbClr val="F4F4F4"/>
                  </a:solidFill>
                  <a:latin typeface="Poppins Medium"/>
                  <a:ea typeface="Poppins Medium"/>
                  <a:cs typeface="Poppins Medium"/>
                  <a:sym typeface="Poppins Medium"/>
                </a:rPr>
                <a:t>RANDOM FOREST</a:t>
              </a:r>
            </a:p>
          </p:txBody>
        </p:sp>
      </p:grpSp>
      <p:grpSp>
        <p:nvGrpSpPr>
          <p:cNvPr id="19" name="Group 19"/>
          <p:cNvGrpSpPr/>
          <p:nvPr/>
        </p:nvGrpSpPr>
        <p:grpSpPr>
          <a:xfrm>
            <a:off x="11873585" y="1501029"/>
            <a:ext cx="812101" cy="812101"/>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1" name="TextBox 21"/>
            <p:cNvSpPr txBox="1"/>
            <p:nvPr/>
          </p:nvSpPr>
          <p:spPr>
            <a:xfrm>
              <a:off x="76200" y="9525"/>
              <a:ext cx="660400" cy="727075"/>
            </a:xfrm>
            <a:prstGeom prst="rect">
              <a:avLst/>
            </a:prstGeom>
          </p:spPr>
          <p:txBody>
            <a:bodyPr lIns="50800" tIns="50800" rIns="50800" bIns="50800" rtlCol="0" anchor="ctr"/>
            <a:lstStyle/>
            <a:p>
              <a:pPr algn="ctr">
                <a:lnSpc>
                  <a:spcPts val="3110"/>
                </a:lnSpc>
              </a:pPr>
              <a:r>
                <a:rPr lang="en-US" sz="2221" b="1" spc="46">
                  <a:solidFill>
                    <a:srgbClr val="FFFFFF"/>
                  </a:solidFill>
                  <a:latin typeface="Poppins Medium"/>
                  <a:ea typeface="Poppins Medium"/>
                  <a:cs typeface="Poppins Medium"/>
                  <a:sym typeface="Poppins Medium"/>
                </a:rPr>
                <a:t>1</a:t>
              </a:r>
            </a:p>
          </p:txBody>
        </p:sp>
      </p:grpSp>
      <p:grpSp>
        <p:nvGrpSpPr>
          <p:cNvPr id="22" name="Group 22"/>
          <p:cNvGrpSpPr/>
          <p:nvPr/>
        </p:nvGrpSpPr>
        <p:grpSpPr>
          <a:xfrm>
            <a:off x="11873585" y="2991137"/>
            <a:ext cx="812101" cy="812101"/>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4" name="TextBox 24"/>
            <p:cNvSpPr txBox="1"/>
            <p:nvPr/>
          </p:nvSpPr>
          <p:spPr>
            <a:xfrm>
              <a:off x="76200" y="9525"/>
              <a:ext cx="660400" cy="727075"/>
            </a:xfrm>
            <a:prstGeom prst="rect">
              <a:avLst/>
            </a:prstGeom>
          </p:spPr>
          <p:txBody>
            <a:bodyPr lIns="50800" tIns="50800" rIns="50800" bIns="50800" rtlCol="0" anchor="ctr"/>
            <a:lstStyle/>
            <a:p>
              <a:pPr algn="ctr">
                <a:lnSpc>
                  <a:spcPts val="3108"/>
                </a:lnSpc>
              </a:pPr>
              <a:r>
                <a:rPr lang="en-US" sz="2220" b="1" spc="46">
                  <a:solidFill>
                    <a:srgbClr val="FFFFFF"/>
                  </a:solidFill>
                  <a:latin typeface="Poppins Medium"/>
                  <a:ea typeface="Poppins Medium"/>
                  <a:cs typeface="Poppins Medium"/>
                  <a:sym typeface="Poppins Medium"/>
                </a:rPr>
                <a:t>2</a:t>
              </a:r>
            </a:p>
          </p:txBody>
        </p:sp>
      </p:grpSp>
      <p:grpSp>
        <p:nvGrpSpPr>
          <p:cNvPr id="25" name="Group 25"/>
          <p:cNvGrpSpPr/>
          <p:nvPr/>
        </p:nvGrpSpPr>
        <p:grpSpPr>
          <a:xfrm>
            <a:off x="11873585" y="4633570"/>
            <a:ext cx="812101" cy="81210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27" name="TextBox 27"/>
            <p:cNvSpPr txBox="1"/>
            <p:nvPr/>
          </p:nvSpPr>
          <p:spPr>
            <a:xfrm>
              <a:off x="76200" y="9525"/>
              <a:ext cx="660400" cy="727075"/>
            </a:xfrm>
            <a:prstGeom prst="rect">
              <a:avLst/>
            </a:prstGeom>
          </p:spPr>
          <p:txBody>
            <a:bodyPr lIns="50800" tIns="50800" rIns="50800" bIns="50800" rtlCol="0" anchor="ctr"/>
            <a:lstStyle/>
            <a:p>
              <a:pPr algn="ctr">
                <a:lnSpc>
                  <a:spcPts val="3108"/>
                </a:lnSpc>
              </a:pPr>
              <a:r>
                <a:rPr lang="en-US" sz="2220" b="1" spc="46">
                  <a:solidFill>
                    <a:srgbClr val="FFFFFF"/>
                  </a:solidFill>
                  <a:latin typeface="Poppins Medium"/>
                  <a:ea typeface="Poppins Medium"/>
                  <a:cs typeface="Poppins Medium"/>
                  <a:sym typeface="Poppins Medium"/>
                </a:rPr>
                <a:t>3</a:t>
              </a:r>
            </a:p>
          </p:txBody>
        </p:sp>
      </p:grpSp>
      <p:grpSp>
        <p:nvGrpSpPr>
          <p:cNvPr id="28" name="Group 28"/>
          <p:cNvGrpSpPr/>
          <p:nvPr/>
        </p:nvGrpSpPr>
        <p:grpSpPr>
          <a:xfrm>
            <a:off x="11873585" y="6209150"/>
            <a:ext cx="812101" cy="812101"/>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30" name="TextBox 30"/>
            <p:cNvSpPr txBox="1"/>
            <p:nvPr/>
          </p:nvSpPr>
          <p:spPr>
            <a:xfrm>
              <a:off x="76200" y="9525"/>
              <a:ext cx="660400" cy="727075"/>
            </a:xfrm>
            <a:prstGeom prst="rect">
              <a:avLst/>
            </a:prstGeom>
          </p:spPr>
          <p:txBody>
            <a:bodyPr lIns="50800" tIns="50800" rIns="50800" bIns="50800" rtlCol="0" anchor="ctr"/>
            <a:lstStyle/>
            <a:p>
              <a:pPr algn="ctr">
                <a:lnSpc>
                  <a:spcPts val="3108"/>
                </a:lnSpc>
              </a:pPr>
              <a:r>
                <a:rPr lang="en-US" sz="2220" b="1" spc="46">
                  <a:solidFill>
                    <a:srgbClr val="FFFFFF"/>
                  </a:solidFill>
                  <a:latin typeface="Poppins Medium"/>
                  <a:ea typeface="Poppins Medium"/>
                  <a:cs typeface="Poppins Medium"/>
                  <a:sym typeface="Poppins Medium"/>
                </a:rPr>
                <a:t>4</a:t>
              </a:r>
            </a:p>
          </p:txBody>
        </p:sp>
      </p:grpSp>
      <p:grpSp>
        <p:nvGrpSpPr>
          <p:cNvPr id="31" name="Group 31"/>
          <p:cNvGrpSpPr/>
          <p:nvPr/>
        </p:nvGrpSpPr>
        <p:grpSpPr>
          <a:xfrm>
            <a:off x="11873585" y="7681601"/>
            <a:ext cx="812101" cy="81210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33" name="TextBox 33"/>
            <p:cNvSpPr txBox="1"/>
            <p:nvPr/>
          </p:nvSpPr>
          <p:spPr>
            <a:xfrm>
              <a:off x="76200" y="9525"/>
              <a:ext cx="660400" cy="727075"/>
            </a:xfrm>
            <a:prstGeom prst="rect">
              <a:avLst/>
            </a:prstGeom>
          </p:spPr>
          <p:txBody>
            <a:bodyPr lIns="50800" tIns="50800" rIns="50800" bIns="50800" rtlCol="0" anchor="ctr"/>
            <a:lstStyle/>
            <a:p>
              <a:pPr algn="ctr">
                <a:lnSpc>
                  <a:spcPts val="3108"/>
                </a:lnSpc>
              </a:pPr>
              <a:r>
                <a:rPr lang="en-US" sz="2220" b="1" spc="46">
                  <a:solidFill>
                    <a:srgbClr val="FFFFFF"/>
                  </a:solidFill>
                  <a:latin typeface="Poppins Medium"/>
                  <a:ea typeface="Poppins Medium"/>
                  <a:cs typeface="Poppins Medium"/>
                  <a:sym typeface="Poppins Medium"/>
                </a:rPr>
                <a:t>5</a:t>
              </a:r>
            </a:p>
          </p:txBody>
        </p:sp>
      </p:grpSp>
      <p:grpSp>
        <p:nvGrpSpPr>
          <p:cNvPr id="34" name="Group 34"/>
          <p:cNvGrpSpPr/>
          <p:nvPr/>
        </p:nvGrpSpPr>
        <p:grpSpPr>
          <a:xfrm>
            <a:off x="11873585" y="8929742"/>
            <a:ext cx="812101" cy="812101"/>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36" name="TextBox 36"/>
            <p:cNvSpPr txBox="1"/>
            <p:nvPr/>
          </p:nvSpPr>
          <p:spPr>
            <a:xfrm>
              <a:off x="76200" y="9525"/>
              <a:ext cx="660400" cy="727075"/>
            </a:xfrm>
            <a:prstGeom prst="rect">
              <a:avLst/>
            </a:prstGeom>
          </p:spPr>
          <p:txBody>
            <a:bodyPr lIns="50800" tIns="50800" rIns="50800" bIns="50800" rtlCol="0" anchor="ctr"/>
            <a:lstStyle/>
            <a:p>
              <a:pPr algn="ctr">
                <a:lnSpc>
                  <a:spcPts val="3108"/>
                </a:lnSpc>
              </a:pPr>
              <a:r>
                <a:rPr lang="en-US" sz="2220" b="1" spc="46">
                  <a:solidFill>
                    <a:srgbClr val="FFFFFF"/>
                  </a:solidFill>
                  <a:latin typeface="Poppins Medium"/>
                  <a:ea typeface="Poppins Medium"/>
                  <a:cs typeface="Poppins Medium"/>
                  <a:sym typeface="Poppins Medium"/>
                </a:rPr>
                <a:t>6</a:t>
              </a:r>
            </a:p>
          </p:txBody>
        </p:sp>
      </p:grpSp>
      <p:grpSp>
        <p:nvGrpSpPr>
          <p:cNvPr id="37" name="Group 37"/>
          <p:cNvGrpSpPr/>
          <p:nvPr/>
        </p:nvGrpSpPr>
        <p:grpSpPr>
          <a:xfrm>
            <a:off x="13356138" y="8846371"/>
            <a:ext cx="4426797" cy="1170566"/>
            <a:chOff x="0" y="0"/>
            <a:chExt cx="1165905" cy="308297"/>
          </a:xfrm>
        </p:grpSpPr>
        <p:sp>
          <p:nvSpPr>
            <p:cNvPr id="38" name="Freeform 38"/>
            <p:cNvSpPr/>
            <p:nvPr/>
          </p:nvSpPr>
          <p:spPr>
            <a:xfrm>
              <a:off x="0" y="0"/>
              <a:ext cx="1165905" cy="308297"/>
            </a:xfrm>
            <a:custGeom>
              <a:avLst/>
              <a:gdLst/>
              <a:ahLst/>
              <a:cxnLst/>
              <a:rect l="l" t="t" r="r" b="b"/>
              <a:pathLst>
                <a:path w="1165905" h="308297">
                  <a:moveTo>
                    <a:pt x="154149" y="0"/>
                  </a:moveTo>
                  <a:lnTo>
                    <a:pt x="1011757" y="0"/>
                  </a:lnTo>
                  <a:cubicBezTo>
                    <a:pt x="1096891" y="0"/>
                    <a:pt x="1165905" y="69015"/>
                    <a:pt x="1165905" y="154149"/>
                  </a:cubicBezTo>
                  <a:lnTo>
                    <a:pt x="1165905" y="154149"/>
                  </a:lnTo>
                  <a:cubicBezTo>
                    <a:pt x="1165905" y="195031"/>
                    <a:pt x="1149665" y="234240"/>
                    <a:pt x="1120756" y="263148"/>
                  </a:cubicBezTo>
                  <a:cubicBezTo>
                    <a:pt x="1091848" y="292057"/>
                    <a:pt x="1052639" y="308297"/>
                    <a:pt x="1011757" y="308297"/>
                  </a:cubicBezTo>
                  <a:lnTo>
                    <a:pt x="154149" y="308297"/>
                  </a:lnTo>
                  <a:cubicBezTo>
                    <a:pt x="69015" y="308297"/>
                    <a:pt x="0" y="239282"/>
                    <a:pt x="0" y="154149"/>
                  </a:cubicBezTo>
                  <a:lnTo>
                    <a:pt x="0" y="154149"/>
                  </a:lnTo>
                  <a:cubicBezTo>
                    <a:pt x="0" y="69015"/>
                    <a:pt x="69015" y="0"/>
                    <a:pt x="154149"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39" name="TextBox 39"/>
            <p:cNvSpPr txBox="1"/>
            <p:nvPr/>
          </p:nvSpPr>
          <p:spPr>
            <a:xfrm>
              <a:off x="0" y="-76200"/>
              <a:ext cx="1165905" cy="384497"/>
            </a:xfrm>
            <a:prstGeom prst="rect">
              <a:avLst/>
            </a:prstGeom>
          </p:spPr>
          <p:txBody>
            <a:bodyPr lIns="50800" tIns="50800" rIns="50800" bIns="50800" rtlCol="0" anchor="ctr"/>
            <a:lstStyle/>
            <a:p>
              <a:pPr algn="ctr">
                <a:lnSpc>
                  <a:spcPts val="3530"/>
                </a:lnSpc>
              </a:pPr>
              <a:r>
                <a:rPr lang="en-US" sz="2521" b="1" spc="52">
                  <a:solidFill>
                    <a:srgbClr val="F4F4F4"/>
                  </a:solidFill>
                  <a:latin typeface="Poppins Medium"/>
                  <a:ea typeface="Poppins Medium"/>
                  <a:cs typeface="Poppins Medium"/>
                  <a:sym typeface="Poppins Medium"/>
                </a:rPr>
                <a:t>SUPPORT VECTOR MACHINE</a:t>
              </a:r>
            </a:p>
          </p:txBody>
        </p:sp>
      </p:grpSp>
      <p:sp>
        <p:nvSpPr>
          <p:cNvPr id="40" name="TextBox 40"/>
          <p:cNvSpPr txBox="1"/>
          <p:nvPr/>
        </p:nvSpPr>
        <p:spPr>
          <a:xfrm>
            <a:off x="0" y="2078726"/>
            <a:ext cx="11467744" cy="3372824"/>
          </a:xfrm>
          <a:prstGeom prst="rect">
            <a:avLst/>
          </a:prstGeom>
        </p:spPr>
        <p:txBody>
          <a:bodyPr lIns="0" tIns="0" rIns="0" bIns="0" rtlCol="0" anchor="t">
            <a:spAutoFit/>
          </a:bodyPr>
          <a:lstStyle/>
          <a:p>
            <a:pPr marL="574656" lvl="1" indent="-287328" algn="l">
              <a:lnSpc>
                <a:spcPts val="3726"/>
              </a:lnSpc>
              <a:buFont typeface="Arial"/>
              <a:buChar char="•"/>
            </a:pPr>
            <a:r>
              <a:rPr lang="en-US" sz="2661" spc="-111">
                <a:solidFill>
                  <a:srgbClr val="F4F4F4"/>
                </a:solidFill>
                <a:latin typeface="Poppins"/>
                <a:ea typeface="Poppins"/>
                <a:cs typeface="Poppins"/>
                <a:sym typeface="Poppins"/>
              </a:rPr>
              <a:t>Used a 70/30 train-test split to train the model on 70% of the data and test on 30%.</a:t>
            </a:r>
          </a:p>
          <a:p>
            <a:pPr marL="574656" lvl="1" indent="-287328" algn="l">
              <a:lnSpc>
                <a:spcPts val="3726"/>
              </a:lnSpc>
              <a:buFont typeface="Arial"/>
              <a:buChar char="•"/>
            </a:pPr>
            <a:r>
              <a:rPr lang="en-US" sz="2661" spc="-111">
                <a:solidFill>
                  <a:srgbClr val="F4F4F4"/>
                </a:solidFill>
                <a:latin typeface="Poppins"/>
                <a:ea typeface="Poppins"/>
                <a:cs typeface="Poppins"/>
                <a:sym typeface="Poppins"/>
              </a:rPr>
              <a:t>Applied 5-fold cross-validation to improve model reliability and reduce overfitting.</a:t>
            </a:r>
          </a:p>
          <a:p>
            <a:pPr marL="574656" lvl="1" indent="-287328" algn="l">
              <a:lnSpc>
                <a:spcPts val="3726"/>
              </a:lnSpc>
              <a:buFont typeface="Arial"/>
              <a:buChar char="•"/>
            </a:pPr>
            <a:r>
              <a:rPr lang="en-US" sz="2661" spc="-111">
                <a:solidFill>
                  <a:srgbClr val="F4F4F4"/>
                </a:solidFill>
                <a:latin typeface="Poppins"/>
                <a:ea typeface="Poppins"/>
                <a:cs typeface="Poppins"/>
                <a:sym typeface="Poppins"/>
              </a:rPr>
              <a:t>Enabled OOB (Out-of-Bag) scoring in the Random Forest model for internal validation using unsampled data.</a:t>
            </a:r>
          </a:p>
          <a:p>
            <a:pPr algn="l">
              <a:lnSpc>
                <a:spcPts val="4566"/>
              </a:lnSpc>
              <a:spcBef>
                <a:spcPct val="0"/>
              </a:spcBef>
            </a:pPr>
            <a:endParaRPr lang="en-US" sz="2661" spc="-111">
              <a:solidFill>
                <a:srgbClr val="F4F4F4"/>
              </a:solidFill>
              <a:latin typeface="Poppins"/>
              <a:ea typeface="Poppins"/>
              <a:cs typeface="Poppins"/>
              <a:sym typeface="Poppins"/>
            </a:endParaRPr>
          </a:p>
        </p:txBody>
      </p:sp>
      <p:sp>
        <p:nvSpPr>
          <p:cNvPr id="41" name="TextBox 41"/>
          <p:cNvSpPr txBox="1"/>
          <p:nvPr/>
        </p:nvSpPr>
        <p:spPr>
          <a:xfrm>
            <a:off x="1424143" y="203714"/>
            <a:ext cx="8619458" cy="954405"/>
          </a:xfrm>
          <a:prstGeom prst="rect">
            <a:avLst/>
          </a:prstGeom>
        </p:spPr>
        <p:txBody>
          <a:bodyPr lIns="0" tIns="0" rIns="0" bIns="0" rtlCol="0" anchor="t">
            <a:spAutoFit/>
          </a:bodyPr>
          <a:lstStyle/>
          <a:p>
            <a:pPr algn="ctr">
              <a:lnSpc>
                <a:spcPts val="6611"/>
              </a:lnSpc>
            </a:pPr>
            <a:r>
              <a:rPr lang="en-US" sz="6959" b="1" spc="-292">
                <a:solidFill>
                  <a:srgbClr val="F4F4F4"/>
                </a:solidFill>
                <a:latin typeface="Poppins Medium"/>
                <a:ea typeface="Poppins Medium"/>
                <a:cs typeface="Poppins Medium"/>
                <a:sym typeface="Poppins Medium"/>
              </a:rPr>
              <a:t>Methodology</a:t>
            </a:r>
          </a:p>
        </p:txBody>
      </p:sp>
      <p:sp>
        <p:nvSpPr>
          <p:cNvPr id="42" name="TextBox 42"/>
          <p:cNvSpPr txBox="1"/>
          <p:nvPr/>
        </p:nvSpPr>
        <p:spPr>
          <a:xfrm>
            <a:off x="0" y="1330026"/>
            <a:ext cx="11873585" cy="582932"/>
          </a:xfrm>
          <a:prstGeom prst="rect">
            <a:avLst/>
          </a:prstGeom>
        </p:spPr>
        <p:txBody>
          <a:bodyPr lIns="0" tIns="0" rIns="0" bIns="0" rtlCol="0" anchor="t">
            <a:spAutoFit/>
          </a:bodyPr>
          <a:lstStyle/>
          <a:p>
            <a:pPr algn="l">
              <a:lnSpc>
                <a:spcPts val="4047"/>
              </a:lnSpc>
            </a:pPr>
            <a:r>
              <a:rPr lang="en-US" sz="4260" b="1" spc="-178">
                <a:solidFill>
                  <a:srgbClr val="F4F4F4"/>
                </a:solidFill>
                <a:latin typeface="Poppins Medium"/>
                <a:ea typeface="Poppins Medium"/>
                <a:cs typeface="Poppins Medium"/>
                <a:sym typeface="Poppins Medium"/>
              </a:rPr>
              <a:t>Training Strategy and Evaluation Method</a:t>
            </a:r>
          </a:p>
        </p:txBody>
      </p:sp>
      <p:sp>
        <p:nvSpPr>
          <p:cNvPr id="43" name="TextBox 43"/>
          <p:cNvSpPr txBox="1"/>
          <p:nvPr/>
        </p:nvSpPr>
        <p:spPr>
          <a:xfrm>
            <a:off x="0" y="5556992"/>
            <a:ext cx="11873585" cy="582932"/>
          </a:xfrm>
          <a:prstGeom prst="rect">
            <a:avLst/>
          </a:prstGeom>
        </p:spPr>
        <p:txBody>
          <a:bodyPr lIns="0" tIns="0" rIns="0" bIns="0" rtlCol="0" anchor="t">
            <a:spAutoFit/>
          </a:bodyPr>
          <a:lstStyle/>
          <a:p>
            <a:pPr algn="l">
              <a:lnSpc>
                <a:spcPts val="4047"/>
              </a:lnSpc>
            </a:pPr>
            <a:r>
              <a:rPr lang="en-US" sz="4260" b="1" spc="-178">
                <a:solidFill>
                  <a:srgbClr val="F4F4F4"/>
                </a:solidFill>
                <a:latin typeface="Poppins Medium"/>
                <a:ea typeface="Poppins Medium"/>
                <a:cs typeface="Poppins Medium"/>
                <a:sym typeface="Poppins Medium"/>
              </a:rPr>
              <a:t>Feature Engineering and Selection</a:t>
            </a:r>
          </a:p>
        </p:txBody>
      </p:sp>
      <p:sp>
        <p:nvSpPr>
          <p:cNvPr id="44" name="TextBox 44"/>
          <p:cNvSpPr txBox="1"/>
          <p:nvPr/>
        </p:nvSpPr>
        <p:spPr>
          <a:xfrm>
            <a:off x="0" y="6369019"/>
            <a:ext cx="11467744" cy="3372824"/>
          </a:xfrm>
          <a:prstGeom prst="rect">
            <a:avLst/>
          </a:prstGeom>
        </p:spPr>
        <p:txBody>
          <a:bodyPr lIns="0" tIns="0" rIns="0" bIns="0" rtlCol="0" anchor="t">
            <a:spAutoFit/>
          </a:bodyPr>
          <a:lstStyle/>
          <a:p>
            <a:pPr marL="574656" lvl="1" indent="-287328" algn="l">
              <a:lnSpc>
                <a:spcPts val="3726"/>
              </a:lnSpc>
              <a:buFont typeface="Arial"/>
              <a:buChar char="•"/>
            </a:pPr>
            <a:r>
              <a:rPr lang="en-US" sz="2661" spc="-111">
                <a:solidFill>
                  <a:srgbClr val="F4F4F4"/>
                </a:solidFill>
                <a:latin typeface="Poppins"/>
                <a:ea typeface="Poppins"/>
                <a:cs typeface="Poppins"/>
                <a:sym typeface="Poppins"/>
              </a:rPr>
              <a:t>Recursive Feature Elimination (RFE) was used to identify the most relevant features, improving model focus and reducing noise.</a:t>
            </a:r>
          </a:p>
          <a:p>
            <a:pPr marL="574656" lvl="1" indent="-287328" algn="l">
              <a:lnSpc>
                <a:spcPts val="3726"/>
              </a:lnSpc>
              <a:buFont typeface="Arial"/>
              <a:buChar char="•"/>
            </a:pPr>
            <a:r>
              <a:rPr lang="en-US" sz="2661" spc="-111">
                <a:solidFill>
                  <a:srgbClr val="F4F4F4"/>
                </a:solidFill>
                <a:latin typeface="Poppins"/>
                <a:ea typeface="Poppins"/>
                <a:cs typeface="Poppins"/>
                <a:sym typeface="Poppins"/>
              </a:rPr>
              <a:t>Principal Component Analysis (PCA) was applied to reduce dimensionality while retaining most of the data variance.</a:t>
            </a:r>
          </a:p>
          <a:p>
            <a:pPr marL="574656" lvl="1" indent="-287328" algn="l">
              <a:lnSpc>
                <a:spcPts val="3726"/>
              </a:lnSpc>
              <a:buFont typeface="Arial"/>
              <a:buChar char="•"/>
            </a:pPr>
            <a:r>
              <a:rPr lang="en-US" sz="2661" spc="-111">
                <a:solidFill>
                  <a:srgbClr val="F4F4F4"/>
                </a:solidFill>
                <a:latin typeface="Poppins"/>
                <a:ea typeface="Poppins"/>
                <a:cs typeface="Poppins"/>
                <a:sym typeface="Poppins"/>
              </a:rPr>
              <a:t>No additional feature transformations or new feature creations were necessary, as the dataset was already clean and well-structured.</a:t>
            </a:r>
          </a:p>
          <a:p>
            <a:pPr algn="l">
              <a:lnSpc>
                <a:spcPts val="4566"/>
              </a:lnSpc>
              <a:spcBef>
                <a:spcPct val="0"/>
              </a:spcBef>
            </a:pPr>
            <a:endParaRPr lang="en-US" sz="2661" spc="-111">
              <a:solidFill>
                <a:srgbClr val="F4F4F4"/>
              </a:solidFill>
              <a:latin typeface="Poppins"/>
              <a:ea typeface="Poppins"/>
              <a:cs typeface="Poppins"/>
              <a:sym typeface="Poppins"/>
            </a:endParaRPr>
          </a:p>
        </p:txBody>
      </p:sp>
      <p:sp>
        <p:nvSpPr>
          <p:cNvPr id="45" name="TextBox 45"/>
          <p:cNvSpPr txBox="1"/>
          <p:nvPr/>
        </p:nvSpPr>
        <p:spPr>
          <a:xfrm>
            <a:off x="13209320" y="340249"/>
            <a:ext cx="4573614" cy="805181"/>
          </a:xfrm>
          <a:prstGeom prst="rect">
            <a:avLst/>
          </a:prstGeom>
        </p:spPr>
        <p:txBody>
          <a:bodyPr lIns="0" tIns="0" rIns="0" bIns="0" rtlCol="0" anchor="t">
            <a:spAutoFit/>
          </a:bodyPr>
          <a:lstStyle/>
          <a:p>
            <a:pPr algn="ctr">
              <a:lnSpc>
                <a:spcPts val="5567"/>
              </a:lnSpc>
            </a:pPr>
            <a:r>
              <a:rPr lang="en-US" sz="5860" b="1" spc="-246">
                <a:solidFill>
                  <a:srgbClr val="F4F4F4"/>
                </a:solidFill>
                <a:latin typeface="Poppins Medium"/>
                <a:ea typeface="Poppins Medium"/>
                <a:cs typeface="Poppins Medium"/>
                <a:sym typeface="Poppins Medium"/>
              </a:rPr>
              <a:t>Models used: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7072814"/>
            <a:ext cx="18288000" cy="0"/>
          </a:xfrm>
          <a:prstGeom prst="line">
            <a:avLst/>
          </a:prstGeom>
          <a:ln w="9525" cap="rnd">
            <a:solidFill>
              <a:srgbClr val="F4F4F4"/>
            </a:solidFill>
            <a:prstDash val="solid"/>
            <a:headEnd type="none" w="sm" len="sm"/>
            <a:tailEnd type="none" w="sm" len="sm"/>
          </a:ln>
        </p:spPr>
      </p:sp>
      <p:sp>
        <p:nvSpPr>
          <p:cNvPr id="3" name="TextBox 3"/>
          <p:cNvSpPr txBox="1"/>
          <p:nvPr/>
        </p:nvSpPr>
        <p:spPr>
          <a:xfrm>
            <a:off x="1028700" y="8386837"/>
            <a:ext cx="16230600" cy="871463"/>
          </a:xfrm>
          <a:prstGeom prst="rect">
            <a:avLst/>
          </a:prstGeom>
        </p:spPr>
        <p:txBody>
          <a:bodyPr lIns="0" tIns="0" rIns="0" bIns="0" rtlCol="0" anchor="t">
            <a:spAutoFit/>
          </a:bodyPr>
          <a:lstStyle/>
          <a:p>
            <a:pPr algn="l">
              <a:lnSpc>
                <a:spcPts val="3275"/>
              </a:lnSpc>
            </a:pPr>
            <a:r>
              <a:rPr lang="en-US" sz="3447" b="1" spc="-144">
                <a:solidFill>
                  <a:srgbClr val="F4F4F4"/>
                </a:solidFill>
                <a:latin typeface="Poppins Medium"/>
                <a:ea typeface="Poppins Medium"/>
                <a:cs typeface="Poppins Medium"/>
                <a:sym typeface="Poppins Medium"/>
              </a:rPr>
              <a:t>Overall, all models showed high accuracy, confirming that the features in the dataset are informative and well-suited for classification.</a:t>
            </a:r>
          </a:p>
        </p:txBody>
      </p:sp>
      <p:sp>
        <p:nvSpPr>
          <p:cNvPr id="4" name="TextBox 4"/>
          <p:cNvSpPr txBox="1"/>
          <p:nvPr/>
        </p:nvSpPr>
        <p:spPr>
          <a:xfrm>
            <a:off x="1028700" y="7480694"/>
            <a:ext cx="6967016" cy="551906"/>
          </a:xfrm>
          <a:prstGeom prst="rect">
            <a:avLst/>
          </a:prstGeom>
        </p:spPr>
        <p:txBody>
          <a:bodyPr lIns="0" tIns="0" rIns="0" bIns="0" rtlCol="0" anchor="t">
            <a:spAutoFit/>
          </a:bodyPr>
          <a:lstStyle/>
          <a:p>
            <a:pPr algn="l">
              <a:lnSpc>
                <a:spcPts val="4230"/>
              </a:lnSpc>
              <a:spcBef>
                <a:spcPct val="0"/>
              </a:spcBef>
            </a:pPr>
            <a:r>
              <a:rPr lang="en-US" sz="3021" spc="-126">
                <a:solidFill>
                  <a:srgbClr val="F4F4F4"/>
                </a:solidFill>
                <a:latin typeface="Poppins"/>
                <a:ea typeface="Poppins"/>
                <a:cs typeface="Poppins"/>
                <a:sym typeface="Poppins"/>
              </a:rPr>
              <a:t>Conclusion</a:t>
            </a:r>
          </a:p>
        </p:txBody>
      </p:sp>
      <p:sp>
        <p:nvSpPr>
          <p:cNvPr id="5" name="TextBox 5"/>
          <p:cNvSpPr txBox="1"/>
          <p:nvPr/>
        </p:nvSpPr>
        <p:spPr>
          <a:xfrm>
            <a:off x="0" y="2041350"/>
            <a:ext cx="15507143" cy="4528332"/>
          </a:xfrm>
          <a:prstGeom prst="rect">
            <a:avLst/>
          </a:prstGeom>
        </p:spPr>
        <p:txBody>
          <a:bodyPr lIns="0" tIns="0" rIns="0" bIns="0" rtlCol="0" anchor="t">
            <a:spAutoFit/>
          </a:bodyPr>
          <a:lstStyle/>
          <a:p>
            <a:pPr marL="771099" lvl="1" indent="-385549" algn="l">
              <a:lnSpc>
                <a:spcPts val="5000"/>
              </a:lnSpc>
              <a:buFont typeface="Arial"/>
              <a:buChar char="•"/>
            </a:pPr>
            <a:r>
              <a:rPr lang="en-US" sz="3571" spc="-150">
                <a:solidFill>
                  <a:srgbClr val="F4F4F4"/>
                </a:solidFill>
                <a:latin typeface="Poppins"/>
                <a:ea typeface="Poppins"/>
                <a:cs typeface="Poppins"/>
                <a:sym typeface="Poppins"/>
              </a:rPr>
              <a:t>K-Nearest Neighbors (KNN) performed the best with an accuracy of 98.1%, indicating strong predictive power for this dataset.</a:t>
            </a:r>
          </a:p>
          <a:p>
            <a:pPr marL="771099" lvl="1" indent="-385549" algn="l">
              <a:lnSpc>
                <a:spcPts val="5000"/>
              </a:lnSpc>
              <a:buFont typeface="Arial"/>
              <a:buChar char="•"/>
            </a:pPr>
            <a:r>
              <a:rPr lang="en-US" sz="3571" spc="-150">
                <a:solidFill>
                  <a:srgbClr val="F4F4F4"/>
                </a:solidFill>
                <a:latin typeface="Poppins"/>
                <a:ea typeface="Poppins"/>
                <a:cs typeface="Poppins"/>
                <a:sym typeface="Poppins"/>
              </a:rPr>
              <a:t>Decision Tree, Logistic Regression, and Support Vector Machine (SVM) all achieved solid and equal performance with an accuracy of 96.3%.</a:t>
            </a:r>
          </a:p>
          <a:p>
            <a:pPr marL="771099" lvl="1" indent="-385549" algn="l">
              <a:lnSpc>
                <a:spcPts val="5000"/>
              </a:lnSpc>
              <a:buFont typeface="Arial"/>
              <a:buChar char="•"/>
            </a:pPr>
            <a:r>
              <a:rPr lang="en-US" sz="3571" spc="-150">
                <a:solidFill>
                  <a:srgbClr val="F4F4F4"/>
                </a:solidFill>
                <a:latin typeface="Poppins"/>
                <a:ea typeface="Poppins"/>
                <a:cs typeface="Poppins"/>
                <a:sym typeface="Poppins"/>
              </a:rPr>
              <a:t>Random Forest had the lowest score at 92.6%, though still a strong result, suggesting slight overfitting or sensitivity to the data split.</a:t>
            </a:r>
          </a:p>
          <a:p>
            <a:pPr algn="l">
              <a:lnSpc>
                <a:spcPts val="6127"/>
              </a:lnSpc>
              <a:spcBef>
                <a:spcPct val="0"/>
              </a:spcBef>
            </a:pPr>
            <a:endParaRPr lang="en-US" sz="3571" spc="-150">
              <a:solidFill>
                <a:srgbClr val="F4F4F4"/>
              </a:solidFill>
              <a:latin typeface="Poppins"/>
              <a:ea typeface="Poppins"/>
              <a:cs typeface="Poppins"/>
              <a:sym typeface="Poppins"/>
            </a:endParaRPr>
          </a:p>
        </p:txBody>
      </p:sp>
      <p:sp>
        <p:nvSpPr>
          <p:cNvPr id="6" name="TextBox 6"/>
          <p:cNvSpPr txBox="1"/>
          <p:nvPr/>
        </p:nvSpPr>
        <p:spPr>
          <a:xfrm>
            <a:off x="395648" y="1298945"/>
            <a:ext cx="6967016" cy="551906"/>
          </a:xfrm>
          <a:prstGeom prst="rect">
            <a:avLst/>
          </a:prstGeom>
        </p:spPr>
        <p:txBody>
          <a:bodyPr lIns="0" tIns="0" rIns="0" bIns="0" rtlCol="0" anchor="t">
            <a:spAutoFit/>
          </a:bodyPr>
          <a:lstStyle/>
          <a:p>
            <a:pPr algn="l">
              <a:lnSpc>
                <a:spcPts val="4230"/>
              </a:lnSpc>
              <a:spcBef>
                <a:spcPct val="0"/>
              </a:spcBef>
            </a:pPr>
            <a:r>
              <a:rPr lang="en-US" sz="3021" spc="-126">
                <a:solidFill>
                  <a:srgbClr val="F4F4F4"/>
                </a:solidFill>
                <a:latin typeface="Poppins"/>
                <a:ea typeface="Poppins"/>
                <a:cs typeface="Poppins"/>
                <a:sym typeface="Poppins"/>
              </a:rPr>
              <a:t>Model Performance Insights:</a:t>
            </a:r>
          </a:p>
        </p:txBody>
      </p:sp>
      <p:sp>
        <p:nvSpPr>
          <p:cNvPr id="7" name="TextBox 7"/>
          <p:cNvSpPr txBox="1"/>
          <p:nvPr/>
        </p:nvSpPr>
        <p:spPr>
          <a:xfrm>
            <a:off x="2772936" y="144515"/>
            <a:ext cx="9961271" cy="954405"/>
          </a:xfrm>
          <a:prstGeom prst="rect">
            <a:avLst/>
          </a:prstGeom>
        </p:spPr>
        <p:txBody>
          <a:bodyPr lIns="0" tIns="0" rIns="0" bIns="0" rtlCol="0" anchor="t">
            <a:spAutoFit/>
          </a:bodyPr>
          <a:lstStyle/>
          <a:p>
            <a:pPr algn="ctr">
              <a:lnSpc>
                <a:spcPts val="6611"/>
              </a:lnSpc>
            </a:pPr>
            <a:r>
              <a:rPr lang="en-US" sz="6959" b="1" spc="-292">
                <a:solidFill>
                  <a:srgbClr val="F4F4F4"/>
                </a:solidFill>
                <a:latin typeface="Poppins Medium"/>
                <a:ea typeface="Poppins Medium"/>
                <a:cs typeface="Poppins Medium"/>
                <a:sym typeface="Poppins Medium"/>
              </a:rPr>
              <a:t>Modeling &amp; Evaluation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0" y="1685758"/>
            <a:ext cx="17625662" cy="0"/>
          </a:xfrm>
          <a:prstGeom prst="line">
            <a:avLst/>
          </a:prstGeom>
          <a:ln w="28575" cap="rnd">
            <a:solidFill>
              <a:srgbClr val="D9D9D9"/>
            </a:solidFill>
            <a:prstDash val="solid"/>
            <a:headEnd type="none" w="sm" len="sm"/>
            <a:tailEnd type="none" w="sm" len="sm"/>
          </a:ln>
        </p:spPr>
      </p:sp>
      <p:sp>
        <p:nvSpPr>
          <p:cNvPr id="3" name="TextBox 3"/>
          <p:cNvSpPr txBox="1"/>
          <p:nvPr/>
        </p:nvSpPr>
        <p:spPr>
          <a:xfrm>
            <a:off x="4516346" y="104775"/>
            <a:ext cx="8619458" cy="954405"/>
          </a:xfrm>
          <a:prstGeom prst="rect">
            <a:avLst/>
          </a:prstGeom>
        </p:spPr>
        <p:txBody>
          <a:bodyPr lIns="0" tIns="0" rIns="0" bIns="0" rtlCol="0" anchor="t">
            <a:spAutoFit/>
          </a:bodyPr>
          <a:lstStyle/>
          <a:p>
            <a:pPr algn="ctr">
              <a:lnSpc>
                <a:spcPts val="6611"/>
              </a:lnSpc>
            </a:pPr>
            <a:r>
              <a:rPr lang="en-US" sz="6959" b="1" spc="-292">
                <a:solidFill>
                  <a:srgbClr val="F4F4F4"/>
                </a:solidFill>
                <a:latin typeface="Poppins Medium"/>
                <a:ea typeface="Poppins Medium"/>
                <a:cs typeface="Poppins Medium"/>
                <a:sym typeface="Poppins Medium"/>
              </a:rPr>
              <a:t>Results &amp; Insights</a:t>
            </a:r>
          </a:p>
        </p:txBody>
      </p:sp>
      <p:sp>
        <p:nvSpPr>
          <p:cNvPr id="4" name="TextBox 4"/>
          <p:cNvSpPr txBox="1"/>
          <p:nvPr/>
        </p:nvSpPr>
        <p:spPr>
          <a:xfrm>
            <a:off x="531525" y="1890546"/>
            <a:ext cx="17756475" cy="1809648"/>
          </a:xfrm>
          <a:prstGeom prst="rect">
            <a:avLst/>
          </a:prstGeom>
        </p:spPr>
        <p:txBody>
          <a:bodyPr lIns="0" tIns="0" rIns="0" bIns="0" rtlCol="0" anchor="t">
            <a:spAutoFit/>
          </a:bodyPr>
          <a:lstStyle/>
          <a:p>
            <a:pPr algn="l">
              <a:lnSpc>
                <a:spcPts val="2846"/>
              </a:lnSpc>
            </a:pPr>
            <a:r>
              <a:rPr lang="en-US" sz="2996" b="1" spc="-125">
                <a:solidFill>
                  <a:srgbClr val="F4F4F4"/>
                </a:solidFill>
                <a:latin typeface="Poppins Medium"/>
                <a:ea typeface="Poppins Medium"/>
                <a:cs typeface="Poppins Medium"/>
                <a:sym typeface="Poppins Medium"/>
              </a:rPr>
              <a:t>All models achieved high accuracy (above 92%), with KNN performing best at 98.1%, showing that the dataset is highly classifiable.</a:t>
            </a:r>
          </a:p>
          <a:p>
            <a:pPr algn="l">
              <a:lnSpc>
                <a:spcPts val="2846"/>
              </a:lnSpc>
            </a:pPr>
            <a:endParaRPr lang="en-US" sz="2996" b="1" spc="-125">
              <a:solidFill>
                <a:srgbClr val="F4F4F4"/>
              </a:solidFill>
              <a:latin typeface="Poppins Medium"/>
              <a:ea typeface="Poppins Medium"/>
              <a:cs typeface="Poppins Medium"/>
              <a:sym typeface="Poppins Medium"/>
            </a:endParaRPr>
          </a:p>
          <a:p>
            <a:pPr algn="l">
              <a:lnSpc>
                <a:spcPts val="2846"/>
              </a:lnSpc>
            </a:pPr>
            <a:r>
              <a:rPr lang="en-US" sz="2996" b="1" spc="-125">
                <a:solidFill>
                  <a:srgbClr val="F4F4F4"/>
                </a:solidFill>
                <a:latin typeface="Poppins Medium"/>
                <a:ea typeface="Poppins Medium"/>
                <a:cs typeface="Poppins Medium"/>
                <a:sym typeface="Poppins Medium"/>
              </a:rPr>
              <a:t>Top contributing features identified were Proline, Flavanoids, Color Intensity, and OD280/OD315, which significantly influenced classification.</a:t>
            </a:r>
          </a:p>
        </p:txBody>
      </p:sp>
      <p:sp>
        <p:nvSpPr>
          <p:cNvPr id="5" name="TextBox 5"/>
          <p:cNvSpPr txBox="1"/>
          <p:nvPr/>
        </p:nvSpPr>
        <p:spPr>
          <a:xfrm>
            <a:off x="196363" y="1251597"/>
            <a:ext cx="7398747" cy="434161"/>
          </a:xfrm>
          <a:prstGeom prst="rect">
            <a:avLst/>
          </a:prstGeom>
        </p:spPr>
        <p:txBody>
          <a:bodyPr lIns="0" tIns="0" rIns="0" bIns="0" rtlCol="0" anchor="t">
            <a:spAutoFit/>
          </a:bodyPr>
          <a:lstStyle/>
          <a:p>
            <a:pPr algn="l">
              <a:lnSpc>
                <a:spcPts val="3015"/>
              </a:lnSpc>
            </a:pPr>
            <a:r>
              <a:rPr lang="en-US" sz="3174" b="1" spc="-133">
                <a:solidFill>
                  <a:srgbClr val="F4F4F4"/>
                </a:solidFill>
                <a:latin typeface="Poppins Medium"/>
                <a:ea typeface="Poppins Medium"/>
                <a:cs typeface="Poppins Medium"/>
                <a:sym typeface="Poppins Medium"/>
              </a:rPr>
              <a:t>Key Findings from the Model</a:t>
            </a:r>
          </a:p>
        </p:txBody>
      </p:sp>
      <p:sp>
        <p:nvSpPr>
          <p:cNvPr id="6" name="TextBox 6"/>
          <p:cNvSpPr txBox="1"/>
          <p:nvPr/>
        </p:nvSpPr>
        <p:spPr>
          <a:xfrm>
            <a:off x="531525" y="4538394"/>
            <a:ext cx="18091637" cy="2488519"/>
          </a:xfrm>
          <a:prstGeom prst="rect">
            <a:avLst/>
          </a:prstGeom>
        </p:spPr>
        <p:txBody>
          <a:bodyPr lIns="0" tIns="0" rIns="0" bIns="0" rtlCol="0" anchor="t">
            <a:spAutoFit/>
          </a:bodyPr>
          <a:lstStyle/>
          <a:p>
            <a:pPr algn="l">
              <a:lnSpc>
                <a:spcPts val="2818"/>
              </a:lnSpc>
            </a:pPr>
            <a:r>
              <a:rPr lang="en-US" sz="2966" b="1" spc="-124">
                <a:solidFill>
                  <a:srgbClr val="F4F4F4"/>
                </a:solidFill>
                <a:latin typeface="Poppins Medium"/>
                <a:ea typeface="Poppins Medium"/>
                <a:cs typeface="Poppins Medium"/>
                <a:sym typeface="Poppins Medium"/>
              </a:rPr>
              <a:t>Wines from Cultivar 0 generally have higher Proline and Flavanoids, making them easier to distinguish.</a:t>
            </a:r>
          </a:p>
          <a:p>
            <a:pPr algn="l">
              <a:lnSpc>
                <a:spcPts val="2818"/>
              </a:lnSpc>
            </a:pPr>
            <a:endParaRPr lang="en-US" sz="2966" b="1" spc="-124">
              <a:solidFill>
                <a:srgbClr val="F4F4F4"/>
              </a:solidFill>
              <a:latin typeface="Poppins Medium"/>
              <a:ea typeface="Poppins Medium"/>
              <a:cs typeface="Poppins Medium"/>
              <a:sym typeface="Poppins Medium"/>
            </a:endParaRPr>
          </a:p>
          <a:p>
            <a:pPr algn="l">
              <a:lnSpc>
                <a:spcPts val="2818"/>
              </a:lnSpc>
            </a:pPr>
            <a:r>
              <a:rPr lang="en-US" sz="2966" b="1" spc="-124">
                <a:solidFill>
                  <a:srgbClr val="F4F4F4"/>
                </a:solidFill>
                <a:latin typeface="Poppins Medium"/>
                <a:ea typeface="Poppins Medium"/>
                <a:cs typeface="Poppins Medium"/>
                <a:sym typeface="Poppins Medium"/>
              </a:rPr>
              <a:t>Cultivar 2 stands out with higher Color Intensity and lower OD280/OD315, helping separate it from the others.</a:t>
            </a:r>
          </a:p>
          <a:p>
            <a:pPr algn="l">
              <a:lnSpc>
                <a:spcPts val="2818"/>
              </a:lnSpc>
            </a:pPr>
            <a:endParaRPr lang="en-US" sz="2966" b="1" spc="-124">
              <a:solidFill>
                <a:srgbClr val="F4F4F4"/>
              </a:solidFill>
              <a:latin typeface="Poppins Medium"/>
              <a:ea typeface="Poppins Medium"/>
              <a:cs typeface="Poppins Medium"/>
              <a:sym typeface="Poppins Medium"/>
            </a:endParaRPr>
          </a:p>
          <a:p>
            <a:pPr algn="l">
              <a:lnSpc>
                <a:spcPts val="2818"/>
              </a:lnSpc>
            </a:pPr>
            <a:r>
              <a:rPr lang="en-US" sz="2966" b="1" spc="-124">
                <a:solidFill>
                  <a:srgbClr val="F4F4F4"/>
                </a:solidFill>
                <a:latin typeface="Poppins Medium"/>
                <a:ea typeface="Poppins Medium"/>
                <a:cs typeface="Poppins Medium"/>
                <a:sym typeface="Poppins Medium"/>
              </a:rPr>
              <a:t>Strong positive correlation found between Total Phenols and Flavanoids (r = 0.86), indicating a shared chemical trait.</a:t>
            </a:r>
          </a:p>
        </p:txBody>
      </p:sp>
      <p:sp>
        <p:nvSpPr>
          <p:cNvPr id="7" name="TextBox 7"/>
          <p:cNvSpPr txBox="1"/>
          <p:nvPr/>
        </p:nvSpPr>
        <p:spPr>
          <a:xfrm>
            <a:off x="196363" y="3900219"/>
            <a:ext cx="7398747" cy="434161"/>
          </a:xfrm>
          <a:prstGeom prst="rect">
            <a:avLst/>
          </a:prstGeom>
        </p:spPr>
        <p:txBody>
          <a:bodyPr lIns="0" tIns="0" rIns="0" bIns="0" rtlCol="0" anchor="t">
            <a:spAutoFit/>
          </a:bodyPr>
          <a:lstStyle/>
          <a:p>
            <a:pPr algn="l">
              <a:lnSpc>
                <a:spcPts val="3015"/>
              </a:lnSpc>
            </a:pPr>
            <a:r>
              <a:rPr lang="en-US" sz="3174" b="1" spc="-133">
                <a:solidFill>
                  <a:srgbClr val="F4F4F4"/>
                </a:solidFill>
                <a:latin typeface="Poppins Medium"/>
                <a:ea typeface="Poppins Medium"/>
                <a:cs typeface="Poppins Medium"/>
                <a:sym typeface="Poppins Medium"/>
              </a:rPr>
              <a:t>Patterns or Relationships Discovered</a:t>
            </a:r>
          </a:p>
        </p:txBody>
      </p:sp>
      <p:sp>
        <p:nvSpPr>
          <p:cNvPr id="8" name="AutoShape 8"/>
          <p:cNvSpPr/>
          <p:nvPr/>
        </p:nvSpPr>
        <p:spPr>
          <a:xfrm flipV="1">
            <a:off x="-12883" y="4334380"/>
            <a:ext cx="17724917" cy="78194"/>
          </a:xfrm>
          <a:prstGeom prst="line">
            <a:avLst/>
          </a:prstGeom>
          <a:ln w="28575" cap="rnd">
            <a:solidFill>
              <a:srgbClr val="D9D9D9"/>
            </a:solidFill>
            <a:prstDash val="solid"/>
            <a:headEnd type="none" w="sm" len="sm"/>
            <a:tailEnd type="none" w="sm" len="sm"/>
          </a:ln>
        </p:spPr>
      </p:sp>
      <p:sp>
        <p:nvSpPr>
          <p:cNvPr id="9" name="TextBox 9"/>
          <p:cNvSpPr txBox="1"/>
          <p:nvPr/>
        </p:nvSpPr>
        <p:spPr>
          <a:xfrm>
            <a:off x="196363" y="6995844"/>
            <a:ext cx="7398747" cy="434161"/>
          </a:xfrm>
          <a:prstGeom prst="rect">
            <a:avLst/>
          </a:prstGeom>
        </p:spPr>
        <p:txBody>
          <a:bodyPr lIns="0" tIns="0" rIns="0" bIns="0" rtlCol="0" anchor="t">
            <a:spAutoFit/>
          </a:bodyPr>
          <a:lstStyle/>
          <a:p>
            <a:pPr algn="l">
              <a:lnSpc>
                <a:spcPts val="3015"/>
              </a:lnSpc>
            </a:pPr>
            <a:r>
              <a:rPr lang="en-US" sz="3174" b="1" spc="-133">
                <a:solidFill>
                  <a:srgbClr val="F4F4F4"/>
                </a:solidFill>
                <a:latin typeface="Poppins Medium"/>
                <a:ea typeface="Poppins Medium"/>
                <a:cs typeface="Poppins Medium"/>
                <a:sym typeface="Poppins Medium"/>
              </a:rPr>
              <a:t>Business or Domain Interpretation</a:t>
            </a:r>
          </a:p>
        </p:txBody>
      </p:sp>
      <p:sp>
        <p:nvSpPr>
          <p:cNvPr id="10" name="TextBox 10"/>
          <p:cNvSpPr txBox="1"/>
          <p:nvPr/>
        </p:nvSpPr>
        <p:spPr>
          <a:xfrm>
            <a:off x="531525" y="7546799"/>
            <a:ext cx="17713535" cy="2681320"/>
          </a:xfrm>
          <a:prstGeom prst="rect">
            <a:avLst/>
          </a:prstGeom>
        </p:spPr>
        <p:txBody>
          <a:bodyPr lIns="0" tIns="0" rIns="0" bIns="0" rtlCol="0" anchor="t">
            <a:spAutoFit/>
          </a:bodyPr>
          <a:lstStyle/>
          <a:p>
            <a:pPr algn="l">
              <a:lnSpc>
                <a:spcPts val="2656"/>
              </a:lnSpc>
            </a:pPr>
            <a:r>
              <a:rPr lang="en-US" sz="2796" b="1" spc="-117">
                <a:solidFill>
                  <a:srgbClr val="F4F4F4"/>
                </a:solidFill>
                <a:latin typeface="Poppins Medium"/>
                <a:ea typeface="Poppins Medium"/>
                <a:cs typeface="Poppins Medium"/>
                <a:sym typeface="Poppins Medium"/>
              </a:rPr>
              <a:t>Chemical composition can be used reliably to automate wine classification, supporting quality control and vineyard management.</a:t>
            </a:r>
          </a:p>
          <a:p>
            <a:pPr algn="l">
              <a:lnSpc>
                <a:spcPts val="2656"/>
              </a:lnSpc>
            </a:pPr>
            <a:endParaRPr lang="en-US" sz="2796" b="1" spc="-117">
              <a:solidFill>
                <a:srgbClr val="F4F4F4"/>
              </a:solidFill>
              <a:latin typeface="Poppins Medium"/>
              <a:ea typeface="Poppins Medium"/>
              <a:cs typeface="Poppins Medium"/>
              <a:sym typeface="Poppins Medium"/>
            </a:endParaRPr>
          </a:p>
          <a:p>
            <a:pPr algn="l">
              <a:lnSpc>
                <a:spcPts val="2656"/>
              </a:lnSpc>
            </a:pPr>
            <a:r>
              <a:rPr lang="en-US" sz="2796" b="1" spc="-117">
                <a:solidFill>
                  <a:srgbClr val="F4F4F4"/>
                </a:solidFill>
                <a:latin typeface="Poppins Medium"/>
                <a:ea typeface="Poppins Medium"/>
                <a:cs typeface="Poppins Medium"/>
                <a:sym typeface="Poppins Medium"/>
              </a:rPr>
              <a:t>Wine producers can focus on key chemical markers like Proline and Color Intensity to monitor and distinguish wine types.</a:t>
            </a:r>
          </a:p>
          <a:p>
            <a:pPr algn="l">
              <a:lnSpc>
                <a:spcPts val="2656"/>
              </a:lnSpc>
            </a:pPr>
            <a:endParaRPr lang="en-US" sz="2796" b="1" spc="-117">
              <a:solidFill>
                <a:srgbClr val="F4F4F4"/>
              </a:solidFill>
              <a:latin typeface="Poppins Medium"/>
              <a:ea typeface="Poppins Medium"/>
              <a:cs typeface="Poppins Medium"/>
              <a:sym typeface="Poppins Medium"/>
            </a:endParaRPr>
          </a:p>
          <a:p>
            <a:pPr algn="l">
              <a:lnSpc>
                <a:spcPts val="2656"/>
              </a:lnSpc>
            </a:pPr>
            <a:r>
              <a:rPr lang="en-US" sz="2796" b="1" spc="-117">
                <a:solidFill>
                  <a:srgbClr val="F4F4F4"/>
                </a:solidFill>
                <a:latin typeface="Poppins Medium"/>
                <a:ea typeface="Poppins Medium"/>
                <a:cs typeface="Poppins Medium"/>
                <a:sym typeface="Poppins Medium"/>
              </a:rPr>
              <a:t>These insights can help in marketing strategies, ensuring wines are categorized and labeled accurately based on their chemical profiles.</a:t>
            </a:r>
          </a:p>
        </p:txBody>
      </p:sp>
      <p:sp>
        <p:nvSpPr>
          <p:cNvPr id="11" name="AutoShape 11"/>
          <p:cNvSpPr/>
          <p:nvPr/>
        </p:nvSpPr>
        <p:spPr>
          <a:xfrm flipV="1">
            <a:off x="-241922" y="7469102"/>
            <a:ext cx="17930716" cy="0"/>
          </a:xfrm>
          <a:prstGeom prst="line">
            <a:avLst/>
          </a:prstGeom>
          <a:ln w="28575" cap="rnd">
            <a:solidFill>
              <a:srgbClr val="D9D9D9"/>
            </a:solidFill>
            <a:prstDash val="solid"/>
            <a:headEnd type="none" w="sm" len="sm"/>
            <a:tailEnd type="none" w="sm" len="sm"/>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210521" y="8714015"/>
            <a:ext cx="18288000" cy="0"/>
          </a:xfrm>
          <a:prstGeom prst="line">
            <a:avLst/>
          </a:prstGeom>
          <a:ln w="9525" cap="rnd">
            <a:solidFill>
              <a:srgbClr val="F4F4F4"/>
            </a:solidFill>
            <a:prstDash val="solid"/>
            <a:headEnd type="none" w="sm" len="sm"/>
            <a:tailEnd type="none" w="sm" len="sm"/>
          </a:ln>
        </p:spPr>
      </p:sp>
      <p:grpSp>
        <p:nvGrpSpPr>
          <p:cNvPr id="3" name="Group 3"/>
          <p:cNvGrpSpPr/>
          <p:nvPr/>
        </p:nvGrpSpPr>
        <p:grpSpPr>
          <a:xfrm>
            <a:off x="12762529" y="9258300"/>
            <a:ext cx="4496771" cy="566559"/>
            <a:chOff x="0" y="0"/>
            <a:chExt cx="1184335" cy="149217"/>
          </a:xfrm>
        </p:grpSpPr>
        <p:sp>
          <p:nvSpPr>
            <p:cNvPr id="4" name="Freeform 4"/>
            <p:cNvSpPr/>
            <p:nvPr/>
          </p:nvSpPr>
          <p:spPr>
            <a:xfrm>
              <a:off x="0" y="0"/>
              <a:ext cx="1184335" cy="149217"/>
            </a:xfrm>
            <a:custGeom>
              <a:avLst/>
              <a:gdLst/>
              <a:ahLst/>
              <a:cxnLst/>
              <a:rect l="l" t="t" r="r" b="b"/>
              <a:pathLst>
                <a:path w="1184335" h="149217">
                  <a:moveTo>
                    <a:pt x="74609" y="0"/>
                  </a:moveTo>
                  <a:lnTo>
                    <a:pt x="1109726" y="0"/>
                  </a:lnTo>
                  <a:cubicBezTo>
                    <a:pt x="1129514" y="0"/>
                    <a:pt x="1148491" y="7861"/>
                    <a:pt x="1162483" y="21852"/>
                  </a:cubicBezTo>
                  <a:cubicBezTo>
                    <a:pt x="1176474" y="35844"/>
                    <a:pt x="1184335" y="54821"/>
                    <a:pt x="1184335" y="74609"/>
                  </a:cubicBezTo>
                  <a:lnTo>
                    <a:pt x="1184335" y="74609"/>
                  </a:lnTo>
                  <a:cubicBezTo>
                    <a:pt x="1184335" y="94396"/>
                    <a:pt x="1176474" y="113373"/>
                    <a:pt x="1162483" y="127365"/>
                  </a:cubicBezTo>
                  <a:cubicBezTo>
                    <a:pt x="1148491" y="141357"/>
                    <a:pt x="1129514" y="149217"/>
                    <a:pt x="1109726" y="149217"/>
                  </a:cubicBezTo>
                  <a:lnTo>
                    <a:pt x="74609" y="149217"/>
                  </a:lnTo>
                  <a:cubicBezTo>
                    <a:pt x="54821" y="149217"/>
                    <a:pt x="35844" y="141357"/>
                    <a:pt x="21852" y="127365"/>
                  </a:cubicBezTo>
                  <a:cubicBezTo>
                    <a:pt x="7861" y="113373"/>
                    <a:pt x="0" y="94396"/>
                    <a:pt x="0" y="74609"/>
                  </a:cubicBezTo>
                  <a:lnTo>
                    <a:pt x="0" y="74609"/>
                  </a:lnTo>
                  <a:cubicBezTo>
                    <a:pt x="0" y="54821"/>
                    <a:pt x="7861" y="35844"/>
                    <a:pt x="21852" y="21852"/>
                  </a:cubicBezTo>
                  <a:cubicBezTo>
                    <a:pt x="35844" y="7861"/>
                    <a:pt x="54821" y="0"/>
                    <a:pt x="74609"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5" name="TextBox 5"/>
            <p:cNvSpPr txBox="1"/>
            <p:nvPr/>
          </p:nvSpPr>
          <p:spPr>
            <a:xfrm>
              <a:off x="0" y="-47625"/>
              <a:ext cx="1184335" cy="196842"/>
            </a:xfrm>
            <a:prstGeom prst="rect">
              <a:avLst/>
            </a:prstGeom>
          </p:spPr>
          <p:txBody>
            <a:bodyPr lIns="50800" tIns="50800" rIns="50800" bIns="50800" rtlCol="0" anchor="ctr"/>
            <a:lstStyle/>
            <a:p>
              <a:pPr algn="ctr">
                <a:lnSpc>
                  <a:spcPts val="2690"/>
                </a:lnSpc>
              </a:pPr>
              <a:r>
                <a:rPr lang="en-US" sz="1921" spc="40">
                  <a:solidFill>
                    <a:srgbClr val="F4F4F4"/>
                  </a:solidFill>
                  <a:latin typeface="Poppins Light"/>
                  <a:ea typeface="Poppins Light"/>
                  <a:cs typeface="Poppins Light"/>
                  <a:sym typeface="Poppins Light"/>
                </a:rPr>
                <a:t>MAINAJACOB324@GMAIL.COM</a:t>
              </a:r>
            </a:p>
          </p:txBody>
        </p:sp>
      </p:grpSp>
      <p:sp>
        <p:nvSpPr>
          <p:cNvPr id="6" name="TextBox 6"/>
          <p:cNvSpPr txBox="1"/>
          <p:nvPr/>
        </p:nvSpPr>
        <p:spPr>
          <a:xfrm>
            <a:off x="210521" y="309925"/>
            <a:ext cx="18077479" cy="8878189"/>
          </a:xfrm>
          <a:prstGeom prst="rect">
            <a:avLst/>
          </a:prstGeom>
        </p:spPr>
        <p:txBody>
          <a:bodyPr lIns="0" tIns="0" rIns="0" bIns="0" rtlCol="0" anchor="t">
            <a:spAutoFit/>
          </a:bodyPr>
          <a:lstStyle/>
          <a:p>
            <a:pPr algn="l">
              <a:lnSpc>
                <a:spcPts val="4301"/>
              </a:lnSpc>
            </a:pPr>
            <a:r>
              <a:rPr lang="en-US" sz="4527" b="1" spc="-190">
                <a:solidFill>
                  <a:srgbClr val="F4F4F4"/>
                </a:solidFill>
                <a:latin typeface="Poppins Medium"/>
                <a:ea typeface="Poppins Medium"/>
                <a:cs typeface="Poppins Medium"/>
                <a:sym typeface="Poppins Medium"/>
              </a:rPr>
              <a:t> Recommendations</a:t>
            </a:r>
          </a:p>
          <a:p>
            <a:pPr algn="l">
              <a:lnSpc>
                <a:spcPts val="3731"/>
              </a:lnSpc>
            </a:pPr>
            <a:endParaRPr lang="en-US" sz="4527" b="1" spc="-190">
              <a:solidFill>
                <a:srgbClr val="F4F4F4"/>
              </a:solidFill>
              <a:latin typeface="Poppins Medium"/>
              <a:ea typeface="Poppins Medium"/>
              <a:cs typeface="Poppins Medium"/>
              <a:sym typeface="Poppins Medium"/>
            </a:endParaRPr>
          </a:p>
          <a:p>
            <a:pPr algn="l">
              <a:lnSpc>
                <a:spcPts val="3731"/>
              </a:lnSpc>
            </a:pPr>
            <a:endParaRPr lang="en-US" sz="4527" b="1" spc="-190">
              <a:solidFill>
                <a:srgbClr val="F4F4F4"/>
              </a:solidFill>
              <a:latin typeface="Poppins Medium"/>
              <a:ea typeface="Poppins Medium"/>
              <a:cs typeface="Poppins Medium"/>
              <a:sym typeface="Poppins Medium"/>
            </a:endParaRPr>
          </a:p>
          <a:p>
            <a:pPr marL="696928" lvl="1" indent="-348464" algn="l">
              <a:lnSpc>
                <a:spcPts val="3066"/>
              </a:lnSpc>
              <a:buFont typeface="Arial"/>
              <a:buChar char="•"/>
            </a:pPr>
            <a:r>
              <a:rPr lang="en-US" sz="3228" spc="-135">
                <a:solidFill>
                  <a:srgbClr val="F4F4F4"/>
                </a:solidFill>
                <a:latin typeface="Poppins"/>
                <a:ea typeface="Poppins"/>
                <a:cs typeface="Poppins"/>
                <a:sym typeface="Poppins"/>
              </a:rPr>
              <a:t>Focus on key features only: Based on feature selection (RFE &amp; PCA), properties like Proline, Flavanoids, Color Intensity, and OD280/OD315 are the most effective in differentiating wine cultivars. Limiting lab tests to these can significantly reduce costs without major loss in accuracy.</a:t>
            </a:r>
          </a:p>
          <a:p>
            <a:pPr algn="l">
              <a:lnSpc>
                <a:spcPts val="3066"/>
              </a:lnSpc>
            </a:pPr>
            <a:endParaRPr lang="en-US" sz="3228" spc="-135">
              <a:solidFill>
                <a:srgbClr val="F4F4F4"/>
              </a:solidFill>
              <a:latin typeface="Poppins"/>
              <a:ea typeface="Poppins"/>
              <a:cs typeface="Poppins"/>
              <a:sym typeface="Poppins"/>
            </a:endParaRPr>
          </a:p>
          <a:p>
            <a:pPr marL="696928" lvl="1" indent="-348464" algn="l">
              <a:lnSpc>
                <a:spcPts val="3066"/>
              </a:lnSpc>
              <a:buFont typeface="Arial"/>
              <a:buChar char="•"/>
            </a:pPr>
            <a:r>
              <a:rPr lang="en-US" sz="3228" spc="-135">
                <a:solidFill>
                  <a:srgbClr val="F4F4F4"/>
                </a:solidFill>
                <a:latin typeface="Poppins"/>
                <a:ea typeface="Poppins"/>
                <a:cs typeface="Poppins"/>
                <a:sym typeface="Poppins"/>
              </a:rPr>
              <a:t>Use a simplified model for efficiency: Even with fewer features, models like K-Nearest Neighbors (KNN) maintained high accuracy (98.1%), making it ideal for cost-effective, accurate classification</a:t>
            </a:r>
          </a:p>
          <a:p>
            <a:pPr algn="l">
              <a:lnSpc>
                <a:spcPts val="3066"/>
              </a:lnSpc>
            </a:pPr>
            <a:endParaRPr lang="en-US" sz="3228" spc="-135">
              <a:solidFill>
                <a:srgbClr val="F4F4F4"/>
              </a:solidFill>
              <a:latin typeface="Poppins"/>
              <a:ea typeface="Poppins"/>
              <a:cs typeface="Poppins"/>
              <a:sym typeface="Poppins"/>
            </a:endParaRPr>
          </a:p>
          <a:p>
            <a:pPr marL="696928" lvl="1" indent="-348464" algn="l">
              <a:lnSpc>
                <a:spcPts val="3066"/>
              </a:lnSpc>
              <a:buFont typeface="Arial"/>
              <a:buChar char="•"/>
            </a:pPr>
            <a:r>
              <a:rPr lang="en-US" sz="3228" spc="-135">
                <a:solidFill>
                  <a:srgbClr val="F4F4F4"/>
                </a:solidFill>
                <a:latin typeface="Poppins"/>
                <a:ea typeface="Poppins"/>
                <a:cs typeface="Poppins"/>
                <a:sym typeface="Poppins"/>
              </a:rPr>
              <a:t>Adopt KNN for automation:</a:t>
            </a:r>
          </a:p>
          <a:p>
            <a:pPr algn="l">
              <a:lnSpc>
                <a:spcPts val="3066"/>
              </a:lnSpc>
            </a:pPr>
            <a:endParaRPr lang="en-US" sz="3228" spc="-135">
              <a:solidFill>
                <a:srgbClr val="F4F4F4"/>
              </a:solidFill>
              <a:latin typeface="Poppins"/>
              <a:ea typeface="Poppins"/>
              <a:cs typeface="Poppins"/>
              <a:sym typeface="Poppins"/>
            </a:endParaRPr>
          </a:p>
          <a:p>
            <a:pPr algn="l">
              <a:lnSpc>
                <a:spcPts val="3066"/>
              </a:lnSpc>
            </a:pPr>
            <a:r>
              <a:rPr lang="en-US" sz="3228" spc="-135">
                <a:solidFill>
                  <a:srgbClr val="F4F4F4"/>
                </a:solidFill>
                <a:latin typeface="Poppins"/>
                <a:ea typeface="Poppins"/>
                <a:cs typeface="Poppins"/>
                <a:sym typeface="Poppins"/>
              </a:rPr>
              <a:t>         Recommend KNN as the best-performing model for automating wine classification due to:</a:t>
            </a:r>
          </a:p>
          <a:p>
            <a:pPr marL="1393857" lvl="2" indent="-464619" algn="l">
              <a:lnSpc>
                <a:spcPts val="3066"/>
              </a:lnSpc>
              <a:buFont typeface="Arial"/>
              <a:buChar char="⚬"/>
            </a:pPr>
            <a:r>
              <a:rPr lang="en-US" sz="3228" spc="-135">
                <a:solidFill>
                  <a:srgbClr val="F4F4F4"/>
                </a:solidFill>
                <a:latin typeface="Poppins"/>
                <a:ea typeface="Poppins"/>
                <a:cs typeface="Poppins"/>
                <a:sym typeface="Poppins"/>
              </a:rPr>
              <a:t>Its simplicity and high performance</a:t>
            </a:r>
          </a:p>
          <a:p>
            <a:pPr marL="1393857" lvl="2" indent="-464619" algn="l">
              <a:lnSpc>
                <a:spcPts val="3066"/>
              </a:lnSpc>
              <a:buFont typeface="Arial"/>
              <a:buChar char="⚬"/>
            </a:pPr>
            <a:r>
              <a:rPr lang="en-US" sz="3228" spc="-135">
                <a:solidFill>
                  <a:srgbClr val="F4F4F4"/>
                </a:solidFill>
                <a:latin typeface="Poppins"/>
                <a:ea typeface="Poppins"/>
                <a:cs typeface="Poppins"/>
                <a:sym typeface="Poppins"/>
              </a:rPr>
              <a:t>No need for intensive training time</a:t>
            </a:r>
          </a:p>
          <a:p>
            <a:pPr marL="1393857" lvl="2" indent="-464619" algn="l">
              <a:lnSpc>
                <a:spcPts val="3066"/>
              </a:lnSpc>
              <a:buFont typeface="Arial"/>
              <a:buChar char="⚬"/>
            </a:pPr>
            <a:r>
              <a:rPr lang="en-US" sz="3228" spc="-135">
                <a:solidFill>
                  <a:srgbClr val="F4F4F4"/>
                </a:solidFill>
                <a:latin typeface="Poppins"/>
                <a:ea typeface="Poppins"/>
                <a:cs typeface="Poppins"/>
                <a:sym typeface="Poppins"/>
              </a:rPr>
              <a:t>Performs well even with a reduced feature set</a:t>
            </a:r>
          </a:p>
          <a:p>
            <a:pPr algn="l">
              <a:lnSpc>
                <a:spcPts val="3066"/>
              </a:lnSpc>
            </a:pPr>
            <a:endParaRPr lang="en-US" sz="3228" spc="-135">
              <a:solidFill>
                <a:srgbClr val="F4F4F4"/>
              </a:solidFill>
              <a:latin typeface="Poppins"/>
              <a:ea typeface="Poppins"/>
              <a:cs typeface="Poppins"/>
              <a:sym typeface="Poppins"/>
            </a:endParaRPr>
          </a:p>
          <a:p>
            <a:pPr algn="l">
              <a:lnSpc>
                <a:spcPts val="3066"/>
              </a:lnSpc>
            </a:pPr>
            <a:r>
              <a:rPr lang="en-US" sz="3228" spc="-135">
                <a:solidFill>
                  <a:srgbClr val="F4F4F4"/>
                </a:solidFill>
                <a:latin typeface="Poppins"/>
                <a:ea typeface="Poppins"/>
                <a:cs typeface="Poppins"/>
                <a:sym typeface="Poppins"/>
              </a:rPr>
              <a:t>             Next steps: Implement the KNN model in the production pipeline using selected features             to achieve accurate, low-cost, and automated classification.</a:t>
            </a:r>
          </a:p>
          <a:p>
            <a:pPr algn="l">
              <a:lnSpc>
                <a:spcPts val="3731"/>
              </a:lnSpc>
            </a:pPr>
            <a:endParaRPr lang="en-US" sz="3228" spc="-135">
              <a:solidFill>
                <a:srgbClr val="F4F4F4"/>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3624397"/>
            <a:ext cx="18288000" cy="0"/>
          </a:xfrm>
          <a:prstGeom prst="line">
            <a:avLst/>
          </a:prstGeom>
          <a:ln w="9525" cap="rnd">
            <a:solidFill>
              <a:srgbClr val="F4F4F4"/>
            </a:solidFill>
            <a:prstDash val="solid"/>
            <a:headEnd type="none" w="sm" len="sm"/>
            <a:tailEnd type="none" w="sm" len="sm"/>
          </a:ln>
        </p:spPr>
      </p:sp>
      <p:sp>
        <p:nvSpPr>
          <p:cNvPr id="3" name="TextBox 3"/>
          <p:cNvSpPr txBox="1"/>
          <p:nvPr/>
        </p:nvSpPr>
        <p:spPr>
          <a:xfrm>
            <a:off x="1028700" y="6913678"/>
            <a:ext cx="7041070" cy="1185862"/>
          </a:xfrm>
          <a:prstGeom prst="rect">
            <a:avLst/>
          </a:prstGeom>
        </p:spPr>
        <p:txBody>
          <a:bodyPr lIns="0" tIns="0" rIns="0" bIns="0" rtlCol="0" anchor="t">
            <a:spAutoFit/>
          </a:bodyPr>
          <a:lstStyle/>
          <a:p>
            <a:pPr algn="l">
              <a:lnSpc>
                <a:spcPts val="8122"/>
              </a:lnSpc>
            </a:pPr>
            <a:r>
              <a:rPr lang="en-US" sz="8550" b="1" spc="-359">
                <a:solidFill>
                  <a:srgbClr val="F4F4F4"/>
                </a:solidFill>
                <a:latin typeface="Poppins Medium"/>
                <a:ea typeface="Poppins Medium"/>
                <a:cs typeface="Poppins Medium"/>
                <a:sym typeface="Poppins Medium"/>
              </a:rPr>
              <a:t>Conclusion:</a:t>
            </a:r>
          </a:p>
        </p:txBody>
      </p:sp>
      <p:sp>
        <p:nvSpPr>
          <p:cNvPr id="4" name="TextBox 4"/>
          <p:cNvSpPr txBox="1"/>
          <p:nvPr/>
        </p:nvSpPr>
        <p:spPr>
          <a:xfrm>
            <a:off x="8069770" y="7373260"/>
            <a:ext cx="9780033" cy="2341809"/>
          </a:xfrm>
          <a:prstGeom prst="rect">
            <a:avLst/>
          </a:prstGeom>
        </p:spPr>
        <p:txBody>
          <a:bodyPr lIns="0" tIns="0" rIns="0" bIns="0" rtlCol="0" anchor="t">
            <a:spAutoFit/>
          </a:bodyPr>
          <a:lstStyle/>
          <a:p>
            <a:pPr algn="just">
              <a:lnSpc>
                <a:spcPts val="4623"/>
              </a:lnSpc>
              <a:spcBef>
                <a:spcPct val="0"/>
              </a:spcBef>
            </a:pPr>
            <a:r>
              <a:rPr lang="en-US" sz="3302">
                <a:solidFill>
                  <a:srgbClr val="F4F4F4"/>
                </a:solidFill>
                <a:latin typeface="Inter Extra-Light"/>
                <a:ea typeface="Inter Extra-Light"/>
                <a:cs typeface="Inter Extra-Light"/>
                <a:sym typeface="Inter Extra-Light"/>
              </a:rPr>
              <a:t>Accurate wine classification is achievable using fewer key chemical features, with KNN proving to be an effective and efficient model for automation and cost reduction.</a:t>
            </a:r>
          </a:p>
        </p:txBody>
      </p:sp>
      <p:grpSp>
        <p:nvGrpSpPr>
          <p:cNvPr id="5" name="Group 5"/>
          <p:cNvGrpSpPr/>
          <p:nvPr/>
        </p:nvGrpSpPr>
        <p:grpSpPr>
          <a:xfrm>
            <a:off x="1028700" y="1092278"/>
            <a:ext cx="16230600" cy="5073762"/>
            <a:chOff x="0" y="0"/>
            <a:chExt cx="2514545" cy="786059"/>
          </a:xfrm>
        </p:grpSpPr>
        <p:sp>
          <p:nvSpPr>
            <p:cNvPr id="6" name="Freeform 6"/>
            <p:cNvSpPr/>
            <p:nvPr/>
          </p:nvSpPr>
          <p:spPr>
            <a:xfrm>
              <a:off x="0" y="0"/>
              <a:ext cx="2514545" cy="786059"/>
            </a:xfrm>
            <a:custGeom>
              <a:avLst/>
              <a:gdLst/>
              <a:ahLst/>
              <a:cxnLst/>
              <a:rect l="l" t="t" r="r" b="b"/>
              <a:pathLst>
                <a:path w="2514545" h="786059">
                  <a:moveTo>
                    <a:pt x="29097" y="0"/>
                  </a:moveTo>
                  <a:lnTo>
                    <a:pt x="2485448" y="0"/>
                  </a:lnTo>
                  <a:cubicBezTo>
                    <a:pt x="2493165" y="0"/>
                    <a:pt x="2500566" y="3066"/>
                    <a:pt x="2506022" y="8522"/>
                  </a:cubicBezTo>
                  <a:cubicBezTo>
                    <a:pt x="2511479" y="13979"/>
                    <a:pt x="2514545" y="21380"/>
                    <a:pt x="2514545" y="29097"/>
                  </a:cubicBezTo>
                  <a:lnTo>
                    <a:pt x="2514545" y="756962"/>
                  </a:lnTo>
                  <a:cubicBezTo>
                    <a:pt x="2514545" y="764679"/>
                    <a:pt x="2511479" y="772080"/>
                    <a:pt x="2506022" y="777536"/>
                  </a:cubicBezTo>
                  <a:cubicBezTo>
                    <a:pt x="2500566" y="782993"/>
                    <a:pt x="2493165" y="786059"/>
                    <a:pt x="2485448" y="786059"/>
                  </a:cubicBezTo>
                  <a:lnTo>
                    <a:pt x="29097" y="786059"/>
                  </a:lnTo>
                  <a:cubicBezTo>
                    <a:pt x="21380" y="786059"/>
                    <a:pt x="13979" y="782993"/>
                    <a:pt x="8522" y="777536"/>
                  </a:cubicBezTo>
                  <a:cubicBezTo>
                    <a:pt x="3066" y="772080"/>
                    <a:pt x="0" y="764679"/>
                    <a:pt x="0" y="756962"/>
                  </a:cubicBezTo>
                  <a:lnTo>
                    <a:pt x="0" y="29097"/>
                  </a:lnTo>
                  <a:cubicBezTo>
                    <a:pt x="0" y="21380"/>
                    <a:pt x="3066" y="13979"/>
                    <a:pt x="8522" y="8522"/>
                  </a:cubicBezTo>
                  <a:cubicBezTo>
                    <a:pt x="13979" y="3066"/>
                    <a:pt x="21380" y="0"/>
                    <a:pt x="29097" y="0"/>
                  </a:cubicBezTo>
                  <a:close/>
                </a:path>
              </a:pathLst>
            </a:custGeom>
            <a:blipFill>
              <a:blip r:embed="rId2"/>
              <a:stretch>
                <a:fillRect t="-56564" b="-56564"/>
              </a:stretch>
            </a:blipFill>
            <a:ln w="9525" cap="rnd">
              <a:solidFill>
                <a:srgbClr val="FFFFFF"/>
              </a:solidFill>
              <a:prstDash val="solid"/>
              <a:round/>
            </a:ln>
          </p:spPr>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6569683"/>
            <a:ext cx="18288000" cy="0"/>
          </a:xfrm>
          <a:prstGeom prst="line">
            <a:avLst/>
          </a:prstGeom>
          <a:ln w="9525" cap="rnd">
            <a:solidFill>
              <a:srgbClr val="F4F4F4"/>
            </a:solidFill>
            <a:prstDash val="solid"/>
            <a:headEnd type="none" w="sm" len="sm"/>
            <a:tailEnd type="none" w="sm" len="sm"/>
          </a:ln>
        </p:spPr>
      </p:sp>
      <p:grpSp>
        <p:nvGrpSpPr>
          <p:cNvPr id="3" name="Group 3"/>
          <p:cNvGrpSpPr/>
          <p:nvPr/>
        </p:nvGrpSpPr>
        <p:grpSpPr>
          <a:xfrm>
            <a:off x="12787137" y="8692533"/>
            <a:ext cx="4496771" cy="565767"/>
            <a:chOff x="0" y="0"/>
            <a:chExt cx="1184335" cy="149009"/>
          </a:xfrm>
        </p:grpSpPr>
        <p:sp>
          <p:nvSpPr>
            <p:cNvPr id="4" name="Freeform 4"/>
            <p:cNvSpPr/>
            <p:nvPr/>
          </p:nvSpPr>
          <p:spPr>
            <a:xfrm>
              <a:off x="0" y="0"/>
              <a:ext cx="1184335" cy="149009"/>
            </a:xfrm>
            <a:custGeom>
              <a:avLst/>
              <a:gdLst/>
              <a:ahLst/>
              <a:cxnLst/>
              <a:rect l="l" t="t" r="r" b="b"/>
              <a:pathLst>
                <a:path w="1184335" h="149009">
                  <a:moveTo>
                    <a:pt x="74504" y="0"/>
                  </a:moveTo>
                  <a:lnTo>
                    <a:pt x="1109831" y="0"/>
                  </a:lnTo>
                  <a:cubicBezTo>
                    <a:pt x="1129590" y="0"/>
                    <a:pt x="1148541" y="7850"/>
                    <a:pt x="1162513" y="21822"/>
                  </a:cubicBezTo>
                  <a:cubicBezTo>
                    <a:pt x="1176485" y="35794"/>
                    <a:pt x="1184335" y="54745"/>
                    <a:pt x="1184335" y="74504"/>
                  </a:cubicBezTo>
                  <a:lnTo>
                    <a:pt x="1184335" y="74504"/>
                  </a:lnTo>
                  <a:cubicBezTo>
                    <a:pt x="1184335" y="94264"/>
                    <a:pt x="1176485" y="113215"/>
                    <a:pt x="1162513" y="127187"/>
                  </a:cubicBezTo>
                  <a:cubicBezTo>
                    <a:pt x="1148541" y="141159"/>
                    <a:pt x="1129590" y="149009"/>
                    <a:pt x="1109831" y="149009"/>
                  </a:cubicBezTo>
                  <a:lnTo>
                    <a:pt x="74504" y="149009"/>
                  </a:lnTo>
                  <a:cubicBezTo>
                    <a:pt x="54745" y="149009"/>
                    <a:pt x="35794" y="141159"/>
                    <a:pt x="21822" y="127187"/>
                  </a:cubicBezTo>
                  <a:cubicBezTo>
                    <a:pt x="7850" y="113215"/>
                    <a:pt x="0" y="94264"/>
                    <a:pt x="0" y="74504"/>
                  </a:cubicBezTo>
                  <a:lnTo>
                    <a:pt x="0" y="74504"/>
                  </a:lnTo>
                  <a:cubicBezTo>
                    <a:pt x="0" y="54745"/>
                    <a:pt x="7850" y="35794"/>
                    <a:pt x="21822" y="21822"/>
                  </a:cubicBezTo>
                  <a:cubicBezTo>
                    <a:pt x="35794" y="7850"/>
                    <a:pt x="54745" y="0"/>
                    <a:pt x="74504"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5" name="TextBox 5"/>
            <p:cNvSpPr txBox="1"/>
            <p:nvPr/>
          </p:nvSpPr>
          <p:spPr>
            <a:xfrm>
              <a:off x="0" y="-47625"/>
              <a:ext cx="1184335" cy="196634"/>
            </a:xfrm>
            <a:prstGeom prst="rect">
              <a:avLst/>
            </a:prstGeom>
          </p:spPr>
          <p:txBody>
            <a:bodyPr lIns="50800" tIns="50800" rIns="50800" bIns="50800" rtlCol="0" anchor="ctr"/>
            <a:lstStyle/>
            <a:p>
              <a:pPr algn="ctr">
                <a:lnSpc>
                  <a:spcPts val="2690"/>
                </a:lnSpc>
              </a:pPr>
              <a:r>
                <a:rPr lang="en-US" sz="1921" spc="40">
                  <a:solidFill>
                    <a:srgbClr val="F4F4F4"/>
                  </a:solidFill>
                  <a:latin typeface="Poppins Light"/>
                  <a:ea typeface="Poppins Light"/>
                  <a:cs typeface="Poppins Light"/>
                  <a:sym typeface="Poppins Light"/>
                </a:rPr>
                <a:t>MAINAJACOB324@GMAIL.COM</a:t>
              </a:r>
            </a:p>
          </p:txBody>
        </p:sp>
      </p:grpSp>
      <p:sp>
        <p:nvSpPr>
          <p:cNvPr id="6" name="TextBox 6"/>
          <p:cNvSpPr txBox="1"/>
          <p:nvPr/>
        </p:nvSpPr>
        <p:spPr>
          <a:xfrm>
            <a:off x="3252477" y="2655970"/>
            <a:ext cx="11783046" cy="1794400"/>
          </a:xfrm>
          <a:prstGeom prst="rect">
            <a:avLst/>
          </a:prstGeom>
        </p:spPr>
        <p:txBody>
          <a:bodyPr lIns="0" tIns="0" rIns="0" bIns="0" rtlCol="0" anchor="t">
            <a:spAutoFit/>
          </a:bodyPr>
          <a:lstStyle/>
          <a:p>
            <a:pPr algn="ctr">
              <a:lnSpc>
                <a:spcPts val="12365"/>
              </a:lnSpc>
            </a:pPr>
            <a:r>
              <a:rPr lang="en-US" sz="13016" b="1" spc="-546">
                <a:solidFill>
                  <a:srgbClr val="F4F4F4"/>
                </a:solidFill>
                <a:latin typeface="Poppins Medium"/>
                <a:ea typeface="Poppins Medium"/>
                <a:cs typeface="Poppins Medium"/>
                <a:sym typeface="Poppins Medium"/>
              </a:rPr>
              <a:t>Thankyou</a:t>
            </a:r>
          </a:p>
        </p:txBody>
      </p:sp>
      <p:sp>
        <p:nvSpPr>
          <p:cNvPr id="7" name="TextBox 7"/>
          <p:cNvSpPr txBox="1"/>
          <p:nvPr/>
        </p:nvSpPr>
        <p:spPr>
          <a:xfrm>
            <a:off x="10292284" y="8051092"/>
            <a:ext cx="6967016" cy="641441"/>
          </a:xfrm>
          <a:prstGeom prst="rect">
            <a:avLst/>
          </a:prstGeom>
        </p:spPr>
        <p:txBody>
          <a:bodyPr lIns="0" tIns="0" rIns="0" bIns="0" rtlCol="0" anchor="t">
            <a:spAutoFit/>
          </a:bodyPr>
          <a:lstStyle/>
          <a:p>
            <a:pPr algn="r">
              <a:lnSpc>
                <a:spcPts val="5069"/>
              </a:lnSpc>
              <a:spcBef>
                <a:spcPct val="0"/>
              </a:spcBef>
            </a:pPr>
            <a:r>
              <a:rPr lang="en-US" sz="3621" spc="-152">
                <a:solidFill>
                  <a:srgbClr val="F4F4F4"/>
                </a:solidFill>
                <a:latin typeface="Poppins"/>
                <a:ea typeface="Poppins"/>
                <a:cs typeface="Poppins"/>
                <a:sym typeface="Poppins"/>
              </a:rPr>
              <a:t>Muchoki  Maina</a:t>
            </a:r>
          </a:p>
        </p:txBody>
      </p:sp>
      <p:sp>
        <p:nvSpPr>
          <p:cNvPr id="8" name="TextBox 8"/>
          <p:cNvSpPr txBox="1"/>
          <p:nvPr/>
        </p:nvSpPr>
        <p:spPr>
          <a:xfrm>
            <a:off x="1028700" y="8140627"/>
            <a:ext cx="6967016" cy="551906"/>
          </a:xfrm>
          <a:prstGeom prst="rect">
            <a:avLst/>
          </a:prstGeom>
        </p:spPr>
        <p:txBody>
          <a:bodyPr lIns="0" tIns="0" rIns="0" bIns="0" rtlCol="0" anchor="t">
            <a:spAutoFit/>
          </a:bodyPr>
          <a:lstStyle/>
          <a:p>
            <a:pPr algn="l">
              <a:lnSpc>
                <a:spcPts val="4230"/>
              </a:lnSpc>
              <a:spcBef>
                <a:spcPct val="0"/>
              </a:spcBef>
            </a:pPr>
            <a:r>
              <a:rPr lang="en-US" sz="3021" spc="-126">
                <a:solidFill>
                  <a:srgbClr val="F4F4F4"/>
                </a:solidFill>
                <a:latin typeface="Poppins"/>
                <a:ea typeface="Poppins"/>
                <a:cs typeface="Poppins"/>
                <a:sym typeface="Poppins"/>
              </a:rPr>
              <a:t>Smart solutions for a refined future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1943</Words>
  <Application>Microsoft Office PowerPoint</Application>
  <PresentationFormat>Custom</PresentationFormat>
  <Paragraphs>225</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Inter Extra-Light</vt:lpstr>
      <vt:lpstr>Inter Medium</vt:lpstr>
      <vt:lpstr>Leckerli One</vt:lpstr>
      <vt:lpstr>Poppins Light</vt:lpstr>
      <vt:lpstr>Poppins Bold</vt:lpstr>
      <vt:lpstr>Poppins</vt:lpstr>
      <vt:lpstr>Poppins Medium</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dc:title>
  <dc:creator>ADMIN</dc:creator>
  <cp:lastModifiedBy>ADMIN</cp:lastModifiedBy>
  <cp:revision>3</cp:revision>
  <dcterms:created xsi:type="dcterms:W3CDTF">2006-08-16T00:00:00Z</dcterms:created>
  <dcterms:modified xsi:type="dcterms:W3CDTF">2025-07-05T15:40:39Z</dcterms:modified>
  <dc:identifier>DAGsMv7p3_k</dc:identifier>
</cp:coreProperties>
</file>